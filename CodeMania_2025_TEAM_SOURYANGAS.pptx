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Calibri (MS)" panose="020F0502020204030204" pitchFamily="34" charset="0"/>
      <p:regular r:id="rId11"/>
    </p:embeddedFont>
    <p:embeddedFont>
      <p:font typeface="Poppins Bold" pitchFamily="2" charset="0"/>
      <p:regular r:id="rId12"/>
    </p:embeddedFont>
    <p:embeddedFont>
      <p:font typeface="Times New Roman" panose="02020603050405020304" pitchFamily="18" charset="0"/>
      <p:regular r:id="rId13"/>
    </p:embeddedFont>
    <p:embeddedFont>
      <p:font typeface="Times New Roman Bold" panose="02030802070405020303" pitchFamily="18" charset="0"/>
      <p:regular r:id="rId14"/>
    </p:embeddedFont>
    <p:embeddedFont>
      <p:font typeface="Times New Roman Semi-Bold" panose="02030702070405020303" pitchFamily="18"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font" Target="fonts/font3.fntdata" /><Relationship Id="rId18" Type="http://schemas.openxmlformats.org/officeDocument/2006/relationships/theme" Target="theme/theme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font" Target="fonts/font2.fntdata" /><Relationship Id="rId17"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font" Target="fonts/font1.fntdata" /><Relationship Id="rId5" Type="http://schemas.openxmlformats.org/officeDocument/2006/relationships/slide" Target="slides/slide4.xml" /><Relationship Id="rId15" Type="http://schemas.openxmlformats.org/officeDocument/2006/relationships/font" Target="fonts/font5.fntdata" /><Relationship Id="rId10" Type="http://schemas.openxmlformats.org/officeDocument/2006/relationships/slide" Target="slides/slide9.xml" /><Relationship Id="rId19"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font" Target="fonts/font4.fntdata"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5.png" /><Relationship Id="rId5" Type="http://schemas.openxmlformats.org/officeDocument/2006/relationships/image" Target="../media/image4.png" /><Relationship Id="rId4" Type="http://schemas.openxmlformats.org/officeDocument/2006/relationships/image" Target="../media/image3.png" /></Relationships>
</file>

<file path=ppt/slides/_rels/slide2.xml.rels><?xml version="1.0" encoding="UTF-8" standalone="yes"?>
<Relationships xmlns="http://schemas.openxmlformats.org/package/2006/relationships"><Relationship Id="rId8" Type="http://schemas.openxmlformats.org/officeDocument/2006/relationships/image" Target="../media/image9.svg" /><Relationship Id="rId3" Type="http://schemas.openxmlformats.org/officeDocument/2006/relationships/image" Target="../media/image3.png" /><Relationship Id="rId7" Type="http://schemas.openxmlformats.org/officeDocument/2006/relationships/image" Target="../media/image8.pn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7.svg" /><Relationship Id="rId5" Type="http://schemas.openxmlformats.org/officeDocument/2006/relationships/image" Target="../media/image6.png" /><Relationship Id="rId4" Type="http://schemas.openxmlformats.org/officeDocument/2006/relationships/image" Target="../media/image5.png" /></Relationships>
</file>

<file path=ppt/slides/_rels/slide3.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7.svg" /><Relationship Id="rId5" Type="http://schemas.openxmlformats.org/officeDocument/2006/relationships/image" Target="../media/image6.png" /><Relationship Id="rId4" Type="http://schemas.openxmlformats.org/officeDocument/2006/relationships/image" Target="../media/image5.png" /></Relationships>
</file>

<file path=ppt/slides/_rels/slide4.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7.svg" /><Relationship Id="rId5" Type="http://schemas.openxmlformats.org/officeDocument/2006/relationships/image" Target="../media/image6.png" /><Relationship Id="rId4" Type="http://schemas.openxmlformats.org/officeDocument/2006/relationships/image" Target="../media/image5.png" /></Relationships>
</file>

<file path=ppt/slides/_rels/slide5.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7.svg" /><Relationship Id="rId5" Type="http://schemas.openxmlformats.org/officeDocument/2006/relationships/image" Target="../media/image6.png" /><Relationship Id="rId4" Type="http://schemas.openxmlformats.org/officeDocument/2006/relationships/image" Target="../media/image5.png" /></Relationships>
</file>

<file path=ppt/slides/_rels/slide6.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7.svg" /><Relationship Id="rId5" Type="http://schemas.openxmlformats.org/officeDocument/2006/relationships/image" Target="../media/image6.png" /><Relationship Id="rId4" Type="http://schemas.openxmlformats.org/officeDocument/2006/relationships/image" Target="../media/image5.png" /></Relationships>
</file>

<file path=ppt/slides/_rels/slide7.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7.svg" /><Relationship Id="rId5" Type="http://schemas.openxmlformats.org/officeDocument/2006/relationships/image" Target="../media/image6.png" /><Relationship Id="rId4" Type="http://schemas.openxmlformats.org/officeDocument/2006/relationships/image" Target="../media/image5.png" /></Relationships>
</file>

<file path=ppt/slides/_rels/slide8.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7.svg" /><Relationship Id="rId5" Type="http://schemas.openxmlformats.org/officeDocument/2006/relationships/image" Target="../media/image6.png" /><Relationship Id="rId4" Type="http://schemas.openxmlformats.org/officeDocument/2006/relationships/image" Target="../media/image5.png" /></Relationships>
</file>

<file path=ppt/slides/_rels/slide9.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1.jpeg" /><Relationship Id="rId1" Type="http://schemas.openxmlformats.org/officeDocument/2006/relationships/slideLayout" Target="../slideLayouts/slideLayout7.xml" /><Relationship Id="rId6" Type="http://schemas.openxmlformats.org/officeDocument/2006/relationships/image" Target="../media/image7.svg" /><Relationship Id="rId5" Type="http://schemas.openxmlformats.org/officeDocument/2006/relationships/image" Target="../media/image6.png" /><Relationship Id="rId4" Type="http://schemas.openxmlformats.org/officeDocument/2006/relationships/image" Target="../media/image5.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38888" b="-38888"/>
              </a:stretch>
            </a:blipFill>
          </p:spPr>
        </p:sp>
      </p:grpSp>
      <p:grpSp>
        <p:nvGrpSpPr>
          <p:cNvPr id="4" name="Group 4"/>
          <p:cNvGrpSpPr/>
          <p:nvPr/>
        </p:nvGrpSpPr>
        <p:grpSpPr>
          <a:xfrm>
            <a:off x="6214198" y="189277"/>
            <a:ext cx="5292017" cy="1678847"/>
            <a:chOff x="0" y="0"/>
            <a:chExt cx="7056023" cy="2238463"/>
          </a:xfrm>
        </p:grpSpPr>
        <p:sp>
          <p:nvSpPr>
            <p:cNvPr id="5" name="Freeform 5"/>
            <p:cNvSpPr/>
            <p:nvPr/>
          </p:nvSpPr>
          <p:spPr>
            <a:xfrm>
              <a:off x="0" y="0"/>
              <a:ext cx="7055993" cy="2238502"/>
            </a:xfrm>
            <a:custGeom>
              <a:avLst/>
              <a:gdLst/>
              <a:ahLst/>
              <a:cxnLst/>
              <a:rect l="l" t="t" r="r" b="b"/>
              <a:pathLst>
                <a:path w="7055993" h="2238502">
                  <a:moveTo>
                    <a:pt x="0" y="0"/>
                  </a:moveTo>
                  <a:lnTo>
                    <a:pt x="7055993" y="0"/>
                  </a:lnTo>
                  <a:lnTo>
                    <a:pt x="7055993" y="2238502"/>
                  </a:lnTo>
                  <a:lnTo>
                    <a:pt x="0" y="2238502"/>
                  </a:lnTo>
                  <a:lnTo>
                    <a:pt x="0" y="0"/>
                  </a:lnTo>
                  <a:close/>
                </a:path>
              </a:pathLst>
            </a:custGeom>
            <a:blipFill>
              <a:blip r:embed="rId3"/>
              <a:stretch>
                <a:fillRect b="1"/>
              </a:stretch>
            </a:blipFill>
          </p:spPr>
        </p:sp>
      </p:grpSp>
      <p:grpSp>
        <p:nvGrpSpPr>
          <p:cNvPr id="6" name="Group 6"/>
          <p:cNvGrpSpPr/>
          <p:nvPr/>
        </p:nvGrpSpPr>
        <p:grpSpPr>
          <a:xfrm>
            <a:off x="2274368" y="302299"/>
            <a:ext cx="3042518" cy="1452802"/>
            <a:chOff x="0" y="0"/>
            <a:chExt cx="4056691" cy="1937069"/>
          </a:xfrm>
        </p:grpSpPr>
        <p:sp>
          <p:nvSpPr>
            <p:cNvPr id="7" name="Freeform 7"/>
            <p:cNvSpPr/>
            <p:nvPr/>
          </p:nvSpPr>
          <p:spPr>
            <a:xfrm>
              <a:off x="0" y="0"/>
              <a:ext cx="4056634" cy="1937131"/>
            </a:xfrm>
            <a:custGeom>
              <a:avLst/>
              <a:gdLst/>
              <a:ahLst/>
              <a:cxnLst/>
              <a:rect l="l" t="t" r="r" b="b"/>
              <a:pathLst>
                <a:path w="4056634" h="1937131">
                  <a:moveTo>
                    <a:pt x="0" y="0"/>
                  </a:moveTo>
                  <a:lnTo>
                    <a:pt x="4056634" y="0"/>
                  </a:lnTo>
                  <a:lnTo>
                    <a:pt x="4056634" y="1937131"/>
                  </a:lnTo>
                  <a:lnTo>
                    <a:pt x="0" y="1937131"/>
                  </a:lnTo>
                  <a:lnTo>
                    <a:pt x="0" y="0"/>
                  </a:lnTo>
                  <a:close/>
                </a:path>
              </a:pathLst>
            </a:custGeom>
            <a:blipFill>
              <a:blip r:embed="rId4"/>
              <a:stretch>
                <a:fillRect t="-112" r="-1" b="-109"/>
              </a:stretch>
            </a:blipFill>
          </p:spPr>
        </p:sp>
      </p:grpSp>
      <p:grpSp>
        <p:nvGrpSpPr>
          <p:cNvPr id="8" name="Group 8"/>
          <p:cNvGrpSpPr/>
          <p:nvPr/>
        </p:nvGrpSpPr>
        <p:grpSpPr>
          <a:xfrm>
            <a:off x="13119591" y="302299"/>
            <a:ext cx="1868213" cy="1868213"/>
            <a:chOff x="0" y="0"/>
            <a:chExt cx="2490951" cy="2490951"/>
          </a:xfrm>
        </p:grpSpPr>
        <p:sp>
          <p:nvSpPr>
            <p:cNvPr id="9" name="Freeform 9"/>
            <p:cNvSpPr/>
            <p:nvPr/>
          </p:nvSpPr>
          <p:spPr>
            <a:xfrm>
              <a:off x="0" y="0"/>
              <a:ext cx="2490978" cy="2490978"/>
            </a:xfrm>
            <a:custGeom>
              <a:avLst/>
              <a:gdLst/>
              <a:ahLst/>
              <a:cxnLst/>
              <a:rect l="l" t="t" r="r" b="b"/>
              <a:pathLst>
                <a:path w="2490978" h="2490978">
                  <a:moveTo>
                    <a:pt x="0" y="0"/>
                  </a:moveTo>
                  <a:lnTo>
                    <a:pt x="2490978" y="0"/>
                  </a:lnTo>
                  <a:lnTo>
                    <a:pt x="2490978" y="2490978"/>
                  </a:lnTo>
                  <a:lnTo>
                    <a:pt x="0" y="2490978"/>
                  </a:lnTo>
                  <a:lnTo>
                    <a:pt x="0" y="0"/>
                  </a:lnTo>
                  <a:close/>
                </a:path>
              </a:pathLst>
            </a:custGeom>
            <a:blipFill>
              <a:blip r:embed="rId5"/>
              <a:stretch>
                <a:fillRect r="1" b="1"/>
              </a:stretch>
            </a:blipFill>
          </p:spPr>
        </p:sp>
      </p:grpSp>
      <p:grpSp>
        <p:nvGrpSpPr>
          <p:cNvPr id="10" name="Group 10"/>
          <p:cNvGrpSpPr/>
          <p:nvPr/>
        </p:nvGrpSpPr>
        <p:grpSpPr>
          <a:xfrm>
            <a:off x="2264033" y="3467100"/>
            <a:ext cx="14423767" cy="6166945"/>
            <a:chOff x="0" y="0"/>
            <a:chExt cx="19231689" cy="8222593"/>
          </a:xfrm>
        </p:grpSpPr>
        <p:sp>
          <p:nvSpPr>
            <p:cNvPr id="11" name="Freeform 11"/>
            <p:cNvSpPr/>
            <p:nvPr/>
          </p:nvSpPr>
          <p:spPr>
            <a:xfrm>
              <a:off x="0" y="0"/>
              <a:ext cx="19231690" cy="8222593"/>
            </a:xfrm>
            <a:custGeom>
              <a:avLst/>
              <a:gdLst/>
              <a:ahLst/>
              <a:cxnLst/>
              <a:rect l="l" t="t" r="r" b="b"/>
              <a:pathLst>
                <a:path w="19231690" h="8222593">
                  <a:moveTo>
                    <a:pt x="0" y="0"/>
                  </a:moveTo>
                  <a:lnTo>
                    <a:pt x="19231690" y="0"/>
                  </a:lnTo>
                  <a:lnTo>
                    <a:pt x="19231690" y="8222593"/>
                  </a:lnTo>
                  <a:lnTo>
                    <a:pt x="0" y="8222593"/>
                  </a:lnTo>
                  <a:close/>
                </a:path>
              </a:pathLst>
            </a:custGeom>
            <a:solidFill>
              <a:srgbClr val="000000">
                <a:alpha val="0"/>
              </a:srgbClr>
            </a:solidFill>
          </p:spPr>
        </p:sp>
        <p:sp>
          <p:nvSpPr>
            <p:cNvPr id="12" name="TextBox 12"/>
            <p:cNvSpPr txBox="1"/>
            <p:nvPr/>
          </p:nvSpPr>
          <p:spPr>
            <a:xfrm>
              <a:off x="0" y="-200025"/>
              <a:ext cx="19231689" cy="8422618"/>
            </a:xfrm>
            <a:prstGeom prst="rect">
              <a:avLst/>
            </a:prstGeom>
          </p:spPr>
          <p:txBody>
            <a:bodyPr lIns="0" tIns="0" rIns="0" bIns="0" rtlCol="0" anchor="t"/>
            <a:lstStyle/>
            <a:p>
              <a:pPr algn="just">
                <a:lnSpc>
                  <a:spcPts val="5425"/>
                </a:lnSpc>
              </a:pPr>
              <a:endParaRPr/>
            </a:p>
            <a:p>
              <a:pPr algn="just">
                <a:lnSpc>
                  <a:spcPts val="5425"/>
                </a:lnSpc>
              </a:pPr>
              <a:r>
                <a:rPr lang="en-US" sz="2996" b="1">
                  <a:solidFill>
                    <a:srgbClr val="000000"/>
                  </a:solidFill>
                  <a:latin typeface="Poppins Bold"/>
                  <a:ea typeface="Poppins Bold"/>
                  <a:cs typeface="Poppins Bold"/>
                  <a:sym typeface="Poppins Bold"/>
                </a:rPr>
                <a:t>•Problem Statement Title – AI-Powered Resume Analyzer for Recruiters</a:t>
              </a:r>
            </a:p>
            <a:p>
              <a:pPr algn="just">
                <a:lnSpc>
                  <a:spcPts val="5425"/>
                </a:lnSpc>
              </a:pPr>
              <a:r>
                <a:rPr lang="en-US" sz="2996" b="1">
                  <a:solidFill>
                    <a:srgbClr val="000000"/>
                  </a:solidFill>
                  <a:latin typeface="Poppins Bold"/>
                  <a:ea typeface="Poppins Bold"/>
                  <a:cs typeface="Poppins Bold"/>
                  <a:sym typeface="Poppins Bold"/>
                </a:rPr>
                <a:t>•Theme – ARTIFICIAL INTELLIGENCE</a:t>
              </a:r>
            </a:p>
            <a:p>
              <a:pPr algn="just">
                <a:lnSpc>
                  <a:spcPts val="5425"/>
                </a:lnSpc>
              </a:pPr>
              <a:r>
                <a:rPr lang="en-US" sz="2996" b="1">
                  <a:solidFill>
                    <a:srgbClr val="000000"/>
                  </a:solidFill>
                  <a:latin typeface="Poppins Bold"/>
                  <a:ea typeface="Poppins Bold"/>
                  <a:cs typeface="Poppins Bold"/>
                  <a:sym typeface="Poppins Bold"/>
                </a:rPr>
                <a:t>•Team ID – SHITEA15</a:t>
              </a:r>
            </a:p>
            <a:p>
              <a:pPr algn="just">
                <a:lnSpc>
                  <a:spcPts val="5425"/>
                </a:lnSpc>
              </a:pPr>
              <a:r>
                <a:rPr lang="en-US" sz="2996" b="1">
                  <a:solidFill>
                    <a:srgbClr val="000000"/>
                  </a:solidFill>
                  <a:latin typeface="Poppins Bold"/>
                  <a:ea typeface="Poppins Bold"/>
                  <a:cs typeface="Poppins Bold"/>
                  <a:sym typeface="Poppins Bold"/>
                </a:rPr>
                <a:t>•Team Name (Registered on Website) – TEAM SHOURYANGA</a:t>
              </a:r>
            </a:p>
            <a:p>
              <a:pPr algn="just">
                <a:lnSpc>
                  <a:spcPts val="5425"/>
                </a:lnSpc>
              </a:pPr>
              <a:r>
                <a:rPr lang="en-US" sz="2996" b="1">
                  <a:solidFill>
                    <a:srgbClr val="000000"/>
                  </a:solidFill>
                  <a:latin typeface="Poppins Bold"/>
                  <a:ea typeface="Poppins Bold"/>
                  <a:cs typeface="Poppins Bold"/>
                  <a:sym typeface="Poppins Bold"/>
                </a:rPr>
                <a:t>•Participant Names -</a:t>
              </a:r>
            </a:p>
            <a:p>
              <a:pPr algn="just">
                <a:lnSpc>
                  <a:spcPts val="5425"/>
                </a:lnSpc>
              </a:pPr>
              <a:r>
                <a:rPr lang="en-US" sz="2996" b="1">
                  <a:solidFill>
                    <a:srgbClr val="000000"/>
                  </a:solidFill>
                  <a:latin typeface="Poppins Bold"/>
                  <a:ea typeface="Poppins Bold"/>
                  <a:cs typeface="Poppins Bold"/>
                  <a:sym typeface="Poppins Bold"/>
                </a:rPr>
                <a:t>  Shivaji</a:t>
              </a:r>
            </a:p>
            <a:p>
              <a:pPr algn="just">
                <a:lnSpc>
                  <a:spcPts val="5425"/>
                </a:lnSpc>
              </a:pPr>
              <a:r>
                <a:rPr lang="en-US" sz="2996" b="1">
                  <a:solidFill>
                    <a:srgbClr val="000000"/>
                  </a:solidFill>
                  <a:latin typeface="Poppins Bold"/>
                  <a:ea typeface="Poppins Bold"/>
                  <a:cs typeface="Poppins Bold"/>
                  <a:sym typeface="Poppins Bold"/>
                </a:rPr>
                <a:t>  Shanth Kumar</a:t>
              </a:r>
            </a:p>
            <a:p>
              <a:pPr algn="just">
                <a:lnSpc>
                  <a:spcPts val="5425"/>
                </a:lnSpc>
              </a:pPr>
              <a:r>
                <a:rPr lang="en-US" sz="2996" b="1">
                  <a:solidFill>
                    <a:srgbClr val="000000"/>
                  </a:solidFill>
                  <a:latin typeface="Poppins Bold"/>
                  <a:ea typeface="Poppins Bold"/>
                  <a:cs typeface="Poppins Bold"/>
                  <a:sym typeface="Poppins Bold"/>
                </a:rPr>
                <a:t>  Suraj Chandra</a:t>
              </a:r>
            </a:p>
          </p:txBody>
        </p:sp>
      </p:grpSp>
      <p:grpSp>
        <p:nvGrpSpPr>
          <p:cNvPr id="13" name="Group 13"/>
          <p:cNvGrpSpPr/>
          <p:nvPr/>
        </p:nvGrpSpPr>
        <p:grpSpPr>
          <a:xfrm>
            <a:off x="45723" y="9692353"/>
            <a:ext cx="18242277" cy="594647"/>
            <a:chOff x="0" y="0"/>
            <a:chExt cx="24323036" cy="792863"/>
          </a:xfrm>
        </p:grpSpPr>
        <p:sp>
          <p:nvSpPr>
            <p:cNvPr id="14" name="Freeform 14"/>
            <p:cNvSpPr/>
            <p:nvPr/>
          </p:nvSpPr>
          <p:spPr>
            <a:xfrm>
              <a:off x="0" y="0"/>
              <a:ext cx="24323039" cy="792861"/>
            </a:xfrm>
            <a:custGeom>
              <a:avLst/>
              <a:gdLst/>
              <a:ahLst/>
              <a:cxnLst/>
              <a:rect l="l" t="t" r="r" b="b"/>
              <a:pathLst>
                <a:path w="24323039" h="792861">
                  <a:moveTo>
                    <a:pt x="0" y="0"/>
                  </a:moveTo>
                  <a:lnTo>
                    <a:pt x="24323039" y="0"/>
                  </a:lnTo>
                  <a:lnTo>
                    <a:pt x="24323039" y="792861"/>
                  </a:lnTo>
                  <a:lnTo>
                    <a:pt x="0" y="792861"/>
                  </a:lnTo>
                  <a:lnTo>
                    <a:pt x="0" y="0"/>
                  </a:lnTo>
                  <a:close/>
                </a:path>
              </a:pathLst>
            </a:custGeom>
            <a:blipFill>
              <a:blip r:embed="rId6"/>
              <a:stretch>
                <a:fillRect t="-16723" b="-16723"/>
              </a:stretch>
            </a:blipFill>
          </p:spPr>
        </p:sp>
      </p:grpSp>
      <p:grpSp>
        <p:nvGrpSpPr>
          <p:cNvPr id="15" name="Group 15"/>
          <p:cNvGrpSpPr/>
          <p:nvPr/>
        </p:nvGrpSpPr>
        <p:grpSpPr>
          <a:xfrm>
            <a:off x="16666900" y="9794298"/>
            <a:ext cx="1621100" cy="333608"/>
            <a:chOff x="0" y="0"/>
            <a:chExt cx="2161467" cy="444811"/>
          </a:xfrm>
        </p:grpSpPr>
        <p:sp>
          <p:nvSpPr>
            <p:cNvPr id="16" name="Freeform 16"/>
            <p:cNvSpPr/>
            <p:nvPr/>
          </p:nvSpPr>
          <p:spPr>
            <a:xfrm>
              <a:off x="0" y="0"/>
              <a:ext cx="2161467" cy="444811"/>
            </a:xfrm>
            <a:custGeom>
              <a:avLst/>
              <a:gdLst/>
              <a:ahLst/>
              <a:cxnLst/>
              <a:rect l="l" t="t" r="r" b="b"/>
              <a:pathLst>
                <a:path w="2161467" h="444811">
                  <a:moveTo>
                    <a:pt x="0" y="0"/>
                  </a:moveTo>
                  <a:lnTo>
                    <a:pt x="2161467" y="0"/>
                  </a:lnTo>
                  <a:lnTo>
                    <a:pt x="2161467" y="444811"/>
                  </a:lnTo>
                  <a:lnTo>
                    <a:pt x="0" y="444811"/>
                  </a:lnTo>
                  <a:close/>
                </a:path>
              </a:pathLst>
            </a:custGeom>
            <a:solidFill>
              <a:srgbClr val="000000">
                <a:alpha val="0"/>
              </a:srgbClr>
            </a:solidFill>
          </p:spPr>
        </p:sp>
        <p:sp>
          <p:nvSpPr>
            <p:cNvPr id="17" name="TextBox 17"/>
            <p:cNvSpPr txBox="1"/>
            <p:nvPr/>
          </p:nvSpPr>
          <p:spPr>
            <a:xfrm>
              <a:off x="0" y="-57150"/>
              <a:ext cx="2161467" cy="501961"/>
            </a:xfrm>
            <a:prstGeom prst="rect">
              <a:avLst/>
            </a:prstGeom>
          </p:spPr>
          <p:txBody>
            <a:bodyPr lIns="0" tIns="0" rIns="0" bIns="0" rtlCol="0" anchor="t"/>
            <a:lstStyle/>
            <a:p>
              <a:pPr algn="l">
                <a:lnSpc>
                  <a:spcPts val="2611"/>
                </a:lnSpc>
              </a:pPr>
              <a:r>
                <a:rPr lang="en-US" sz="1864" b="1">
                  <a:solidFill>
                    <a:srgbClr val="F4E9EC"/>
                  </a:solidFill>
                  <a:latin typeface="Poppins Bold"/>
                  <a:ea typeface="Poppins Bold"/>
                  <a:cs typeface="Poppins Bold"/>
                  <a:sym typeface="Poppins Bold"/>
                </a:rPr>
                <a:t>Page 01</a:t>
              </a:r>
            </a:p>
          </p:txBody>
        </p:sp>
      </p:grpSp>
      <p:grpSp>
        <p:nvGrpSpPr>
          <p:cNvPr id="18" name="Group 18"/>
          <p:cNvGrpSpPr/>
          <p:nvPr/>
        </p:nvGrpSpPr>
        <p:grpSpPr>
          <a:xfrm>
            <a:off x="5734076" y="1714500"/>
            <a:ext cx="6730981" cy="2966974"/>
            <a:chOff x="0" y="0"/>
            <a:chExt cx="8974641" cy="3955965"/>
          </a:xfrm>
        </p:grpSpPr>
        <p:sp>
          <p:nvSpPr>
            <p:cNvPr id="19" name="Freeform 19"/>
            <p:cNvSpPr/>
            <p:nvPr/>
          </p:nvSpPr>
          <p:spPr>
            <a:xfrm>
              <a:off x="0" y="0"/>
              <a:ext cx="8974641" cy="3955966"/>
            </a:xfrm>
            <a:custGeom>
              <a:avLst/>
              <a:gdLst/>
              <a:ahLst/>
              <a:cxnLst/>
              <a:rect l="l" t="t" r="r" b="b"/>
              <a:pathLst>
                <a:path w="8974641" h="3955966">
                  <a:moveTo>
                    <a:pt x="0" y="0"/>
                  </a:moveTo>
                  <a:lnTo>
                    <a:pt x="8974641" y="0"/>
                  </a:lnTo>
                  <a:lnTo>
                    <a:pt x="8974641" y="3955966"/>
                  </a:lnTo>
                  <a:lnTo>
                    <a:pt x="0" y="3955966"/>
                  </a:lnTo>
                  <a:close/>
                </a:path>
              </a:pathLst>
            </a:custGeom>
            <a:solidFill>
              <a:srgbClr val="000000">
                <a:alpha val="0"/>
              </a:srgbClr>
            </a:solidFill>
          </p:spPr>
        </p:sp>
        <p:sp>
          <p:nvSpPr>
            <p:cNvPr id="20" name="TextBox 20"/>
            <p:cNvSpPr txBox="1"/>
            <p:nvPr/>
          </p:nvSpPr>
          <p:spPr>
            <a:xfrm>
              <a:off x="0" y="-219075"/>
              <a:ext cx="8974641" cy="4175040"/>
            </a:xfrm>
            <a:prstGeom prst="rect">
              <a:avLst/>
            </a:prstGeom>
          </p:spPr>
          <p:txBody>
            <a:bodyPr lIns="0" tIns="0" rIns="0" bIns="0" rtlCol="0" anchor="t"/>
            <a:lstStyle/>
            <a:p>
              <a:pPr algn="ctr">
                <a:lnSpc>
                  <a:spcPts val="7615"/>
                </a:lnSpc>
              </a:pPr>
              <a:endParaRPr/>
            </a:p>
            <a:p>
              <a:pPr algn="ctr">
                <a:lnSpc>
                  <a:spcPts val="7615"/>
                </a:lnSpc>
              </a:pPr>
              <a:r>
                <a:rPr lang="en-US" sz="5439" b="1">
                  <a:solidFill>
                    <a:srgbClr val="000000"/>
                  </a:solidFill>
                  <a:latin typeface="Times New Roman Bold"/>
                  <a:ea typeface="Times New Roman Bold"/>
                  <a:cs typeface="Times New Roman Bold"/>
                  <a:sym typeface="Times New Roman Bold"/>
                </a:rPr>
                <a:t>TITLE PAGE</a:t>
              </a:r>
            </a:p>
            <a:p>
              <a:pPr algn="ctr">
                <a:lnSpc>
                  <a:spcPts val="7615"/>
                </a:lnSpc>
              </a:pPr>
              <a:endParaRPr lang="en-US" sz="5439" b="1">
                <a:solidFill>
                  <a:srgbClr val="000000"/>
                </a:solidFill>
                <a:latin typeface="Times New Roman Bold"/>
                <a:ea typeface="Times New Roman Bold"/>
                <a:cs typeface="Times New Roman Bold"/>
                <a:sym typeface="Times New Roman Bold"/>
              </a:endParaRPr>
            </a:p>
          </p:txBody>
        </p:sp>
      </p:grpSp>
      <p:grpSp>
        <p:nvGrpSpPr>
          <p:cNvPr id="21" name="Group 21"/>
          <p:cNvGrpSpPr/>
          <p:nvPr/>
        </p:nvGrpSpPr>
        <p:grpSpPr>
          <a:xfrm>
            <a:off x="3321979" y="9794298"/>
            <a:ext cx="11076454" cy="333608"/>
            <a:chOff x="0" y="0"/>
            <a:chExt cx="14768605" cy="444811"/>
          </a:xfrm>
        </p:grpSpPr>
        <p:sp>
          <p:nvSpPr>
            <p:cNvPr id="22" name="Freeform 22"/>
            <p:cNvSpPr/>
            <p:nvPr/>
          </p:nvSpPr>
          <p:spPr>
            <a:xfrm>
              <a:off x="0" y="0"/>
              <a:ext cx="14768606" cy="444811"/>
            </a:xfrm>
            <a:custGeom>
              <a:avLst/>
              <a:gdLst/>
              <a:ahLst/>
              <a:cxnLst/>
              <a:rect l="l" t="t" r="r" b="b"/>
              <a:pathLst>
                <a:path w="14768606" h="444811">
                  <a:moveTo>
                    <a:pt x="0" y="0"/>
                  </a:moveTo>
                  <a:lnTo>
                    <a:pt x="14768606" y="0"/>
                  </a:lnTo>
                  <a:lnTo>
                    <a:pt x="14768606" y="444811"/>
                  </a:lnTo>
                  <a:lnTo>
                    <a:pt x="0" y="444811"/>
                  </a:lnTo>
                  <a:close/>
                </a:path>
              </a:pathLst>
            </a:custGeom>
            <a:solidFill>
              <a:srgbClr val="000000">
                <a:alpha val="0"/>
              </a:srgbClr>
            </a:solidFill>
          </p:spPr>
        </p:sp>
        <p:sp>
          <p:nvSpPr>
            <p:cNvPr id="23" name="TextBox 23"/>
            <p:cNvSpPr txBox="1"/>
            <p:nvPr/>
          </p:nvSpPr>
          <p:spPr>
            <a:xfrm>
              <a:off x="0" y="-57150"/>
              <a:ext cx="14768605" cy="501961"/>
            </a:xfrm>
            <a:prstGeom prst="rect">
              <a:avLst/>
            </a:prstGeom>
          </p:spPr>
          <p:txBody>
            <a:bodyPr lIns="0" tIns="0" rIns="0" bIns="0" rtlCol="0" anchor="t"/>
            <a:lstStyle/>
            <a:p>
              <a:pPr algn="ctr">
                <a:lnSpc>
                  <a:spcPts val="2611"/>
                </a:lnSpc>
              </a:pPr>
              <a:r>
                <a:rPr lang="en-US" sz="1864" b="1">
                  <a:solidFill>
                    <a:srgbClr val="F4E9EC"/>
                  </a:solidFill>
                  <a:latin typeface="Poppins Bold"/>
                  <a:ea typeface="Poppins Bold"/>
                  <a:cs typeface="Poppins Bold"/>
                  <a:sym typeface="Poppins Bold"/>
                </a:rPr>
                <a:t>Sri Indu College of Engg &amp; Tech - Cyber Club, Department of Cyber Security</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38888" b="-38888"/>
              </a:stretch>
            </a:blipFill>
          </p:spPr>
        </p:sp>
      </p:grpSp>
      <p:grpSp>
        <p:nvGrpSpPr>
          <p:cNvPr id="4" name="Group 4"/>
          <p:cNvGrpSpPr/>
          <p:nvPr/>
        </p:nvGrpSpPr>
        <p:grpSpPr>
          <a:xfrm>
            <a:off x="15910982" y="463512"/>
            <a:ext cx="2113659" cy="1009272"/>
            <a:chOff x="0" y="0"/>
            <a:chExt cx="2818212" cy="1345696"/>
          </a:xfrm>
        </p:grpSpPr>
        <p:sp>
          <p:nvSpPr>
            <p:cNvPr id="5" name="Freeform 5"/>
            <p:cNvSpPr/>
            <p:nvPr/>
          </p:nvSpPr>
          <p:spPr>
            <a:xfrm>
              <a:off x="0" y="0"/>
              <a:ext cx="2818257" cy="1345692"/>
            </a:xfrm>
            <a:custGeom>
              <a:avLst/>
              <a:gdLst/>
              <a:ahLst/>
              <a:cxnLst/>
              <a:rect l="l" t="t" r="r" b="b"/>
              <a:pathLst>
                <a:path w="2818257" h="1345692">
                  <a:moveTo>
                    <a:pt x="0" y="0"/>
                  </a:moveTo>
                  <a:lnTo>
                    <a:pt x="2818257" y="0"/>
                  </a:lnTo>
                  <a:lnTo>
                    <a:pt x="2818257" y="1345692"/>
                  </a:lnTo>
                  <a:lnTo>
                    <a:pt x="0" y="1345692"/>
                  </a:lnTo>
                  <a:lnTo>
                    <a:pt x="0" y="0"/>
                  </a:lnTo>
                  <a:close/>
                </a:path>
              </a:pathLst>
            </a:custGeom>
            <a:blipFill>
              <a:blip r:embed="rId3"/>
              <a:stretch>
                <a:fillRect t="-112" r="1" b="-112"/>
              </a:stretch>
            </a:blipFill>
          </p:spPr>
        </p:sp>
      </p:grpSp>
      <p:grpSp>
        <p:nvGrpSpPr>
          <p:cNvPr id="6" name="Group 6"/>
          <p:cNvGrpSpPr/>
          <p:nvPr/>
        </p:nvGrpSpPr>
        <p:grpSpPr>
          <a:xfrm>
            <a:off x="45723" y="9692353"/>
            <a:ext cx="18242277" cy="594647"/>
            <a:chOff x="0" y="0"/>
            <a:chExt cx="24323036" cy="792863"/>
          </a:xfrm>
        </p:grpSpPr>
        <p:sp>
          <p:nvSpPr>
            <p:cNvPr id="7" name="Freeform 7"/>
            <p:cNvSpPr/>
            <p:nvPr/>
          </p:nvSpPr>
          <p:spPr>
            <a:xfrm>
              <a:off x="0" y="0"/>
              <a:ext cx="24323039" cy="792861"/>
            </a:xfrm>
            <a:custGeom>
              <a:avLst/>
              <a:gdLst/>
              <a:ahLst/>
              <a:cxnLst/>
              <a:rect l="l" t="t" r="r" b="b"/>
              <a:pathLst>
                <a:path w="24323039" h="792861">
                  <a:moveTo>
                    <a:pt x="0" y="0"/>
                  </a:moveTo>
                  <a:lnTo>
                    <a:pt x="24323039" y="0"/>
                  </a:lnTo>
                  <a:lnTo>
                    <a:pt x="24323039" y="792861"/>
                  </a:lnTo>
                  <a:lnTo>
                    <a:pt x="0" y="792861"/>
                  </a:lnTo>
                  <a:lnTo>
                    <a:pt x="0" y="0"/>
                  </a:lnTo>
                  <a:close/>
                </a:path>
              </a:pathLst>
            </a:custGeom>
            <a:blipFill>
              <a:blip r:embed="rId4"/>
              <a:stretch>
                <a:fillRect t="-16723" b="-16723"/>
              </a:stretch>
            </a:blipFill>
          </p:spPr>
        </p:sp>
      </p:grpSp>
      <p:sp>
        <p:nvSpPr>
          <p:cNvPr id="8" name="Freeform 8"/>
          <p:cNvSpPr/>
          <p:nvPr/>
        </p:nvSpPr>
        <p:spPr>
          <a:xfrm>
            <a:off x="578499" y="674602"/>
            <a:ext cx="2393301" cy="1383480"/>
          </a:xfrm>
          <a:custGeom>
            <a:avLst/>
            <a:gdLst/>
            <a:ahLst/>
            <a:cxnLst/>
            <a:rect l="l" t="t" r="r" b="b"/>
            <a:pathLst>
              <a:path w="2393301" h="1383480">
                <a:moveTo>
                  <a:pt x="0" y="0"/>
                </a:moveTo>
                <a:lnTo>
                  <a:pt x="2393301" y="0"/>
                </a:lnTo>
                <a:lnTo>
                  <a:pt x="2393301" y="1383480"/>
                </a:lnTo>
                <a:lnTo>
                  <a:pt x="0" y="1383480"/>
                </a:lnTo>
                <a:lnTo>
                  <a:pt x="0" y="0"/>
                </a:lnTo>
                <a:close/>
              </a:path>
            </a:pathLst>
          </a:custGeom>
          <a:blipFill>
            <a:blip r:embed="rId5">
              <a:extLst>
                <a:ext uri="{96DAC541-7B7A-43D3-8B79-37D633B846F1}">
                  <asvg:svgBlip xmlns:asvg="http://schemas.microsoft.com/office/drawing/2016/SVG/main" r:embed="rId6"/>
                </a:ext>
              </a:extLst>
            </a:blip>
            <a:stretch>
              <a:fillRect t="-3888" b="-3888"/>
            </a:stretch>
          </a:blipFill>
        </p:spPr>
      </p:sp>
      <p:sp>
        <p:nvSpPr>
          <p:cNvPr id="9" name="Freeform 9"/>
          <p:cNvSpPr/>
          <p:nvPr/>
        </p:nvSpPr>
        <p:spPr>
          <a:xfrm>
            <a:off x="2743199" y="2974806"/>
            <a:ext cx="589810" cy="562162"/>
          </a:xfrm>
          <a:custGeom>
            <a:avLst/>
            <a:gdLst/>
            <a:ahLst/>
            <a:cxnLst/>
            <a:rect l="l" t="t" r="r" b="b"/>
            <a:pathLst>
              <a:path w="589810" h="562162">
                <a:moveTo>
                  <a:pt x="0" y="0"/>
                </a:moveTo>
                <a:lnTo>
                  <a:pt x="589810" y="0"/>
                </a:lnTo>
                <a:lnTo>
                  <a:pt x="589810" y="562162"/>
                </a:lnTo>
                <a:lnTo>
                  <a:pt x="0" y="56216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10" name="Group 10"/>
          <p:cNvGrpSpPr/>
          <p:nvPr/>
        </p:nvGrpSpPr>
        <p:grpSpPr>
          <a:xfrm>
            <a:off x="16666900" y="9794298"/>
            <a:ext cx="1621100" cy="333608"/>
            <a:chOff x="0" y="0"/>
            <a:chExt cx="2161467" cy="444811"/>
          </a:xfrm>
        </p:grpSpPr>
        <p:sp>
          <p:nvSpPr>
            <p:cNvPr id="11" name="Freeform 11"/>
            <p:cNvSpPr/>
            <p:nvPr/>
          </p:nvSpPr>
          <p:spPr>
            <a:xfrm>
              <a:off x="0" y="0"/>
              <a:ext cx="2161467" cy="444811"/>
            </a:xfrm>
            <a:custGeom>
              <a:avLst/>
              <a:gdLst/>
              <a:ahLst/>
              <a:cxnLst/>
              <a:rect l="l" t="t" r="r" b="b"/>
              <a:pathLst>
                <a:path w="2161467" h="444811">
                  <a:moveTo>
                    <a:pt x="0" y="0"/>
                  </a:moveTo>
                  <a:lnTo>
                    <a:pt x="2161467" y="0"/>
                  </a:lnTo>
                  <a:lnTo>
                    <a:pt x="2161467" y="444811"/>
                  </a:lnTo>
                  <a:lnTo>
                    <a:pt x="0" y="444811"/>
                  </a:lnTo>
                  <a:close/>
                </a:path>
              </a:pathLst>
            </a:custGeom>
            <a:solidFill>
              <a:srgbClr val="000000">
                <a:alpha val="0"/>
              </a:srgbClr>
            </a:solidFill>
          </p:spPr>
        </p:sp>
        <p:sp>
          <p:nvSpPr>
            <p:cNvPr id="12" name="TextBox 12"/>
            <p:cNvSpPr txBox="1"/>
            <p:nvPr/>
          </p:nvSpPr>
          <p:spPr>
            <a:xfrm>
              <a:off x="0" y="-57150"/>
              <a:ext cx="2161467" cy="501961"/>
            </a:xfrm>
            <a:prstGeom prst="rect">
              <a:avLst/>
            </a:prstGeom>
          </p:spPr>
          <p:txBody>
            <a:bodyPr lIns="0" tIns="0" rIns="0" bIns="0" rtlCol="0" anchor="t"/>
            <a:lstStyle/>
            <a:p>
              <a:pPr algn="l">
                <a:lnSpc>
                  <a:spcPts val="2611"/>
                </a:lnSpc>
              </a:pPr>
              <a:r>
                <a:rPr lang="en-US" sz="1864" b="1">
                  <a:solidFill>
                    <a:srgbClr val="F4E9EC"/>
                  </a:solidFill>
                  <a:latin typeface="Poppins Bold"/>
                  <a:ea typeface="Poppins Bold"/>
                  <a:cs typeface="Poppins Bold"/>
                  <a:sym typeface="Poppins Bold"/>
                </a:rPr>
                <a:t>Page 02</a:t>
              </a:r>
            </a:p>
          </p:txBody>
        </p:sp>
      </p:grpSp>
      <p:grpSp>
        <p:nvGrpSpPr>
          <p:cNvPr id="13" name="Group 13"/>
          <p:cNvGrpSpPr/>
          <p:nvPr/>
        </p:nvGrpSpPr>
        <p:grpSpPr>
          <a:xfrm>
            <a:off x="5644036" y="1018927"/>
            <a:ext cx="6988739" cy="1039155"/>
            <a:chOff x="0" y="0"/>
            <a:chExt cx="9318319" cy="1385540"/>
          </a:xfrm>
        </p:grpSpPr>
        <p:sp>
          <p:nvSpPr>
            <p:cNvPr id="14" name="Freeform 14"/>
            <p:cNvSpPr/>
            <p:nvPr/>
          </p:nvSpPr>
          <p:spPr>
            <a:xfrm>
              <a:off x="0" y="0"/>
              <a:ext cx="9318319" cy="1385540"/>
            </a:xfrm>
            <a:custGeom>
              <a:avLst/>
              <a:gdLst/>
              <a:ahLst/>
              <a:cxnLst/>
              <a:rect l="l" t="t" r="r" b="b"/>
              <a:pathLst>
                <a:path w="9318319" h="1385540">
                  <a:moveTo>
                    <a:pt x="0" y="0"/>
                  </a:moveTo>
                  <a:lnTo>
                    <a:pt x="9318319" y="0"/>
                  </a:lnTo>
                  <a:lnTo>
                    <a:pt x="9318319" y="1385540"/>
                  </a:lnTo>
                  <a:lnTo>
                    <a:pt x="0" y="1385540"/>
                  </a:lnTo>
                  <a:close/>
                </a:path>
              </a:pathLst>
            </a:custGeom>
            <a:solidFill>
              <a:srgbClr val="000000">
                <a:alpha val="0"/>
              </a:srgbClr>
            </a:solidFill>
          </p:spPr>
        </p:sp>
        <p:sp>
          <p:nvSpPr>
            <p:cNvPr id="15" name="TextBox 15"/>
            <p:cNvSpPr txBox="1"/>
            <p:nvPr/>
          </p:nvSpPr>
          <p:spPr>
            <a:xfrm>
              <a:off x="0" y="-219075"/>
              <a:ext cx="9318319" cy="1604615"/>
            </a:xfrm>
            <a:prstGeom prst="rect">
              <a:avLst/>
            </a:prstGeom>
          </p:spPr>
          <p:txBody>
            <a:bodyPr lIns="0" tIns="0" rIns="0" bIns="0" rtlCol="0" anchor="t"/>
            <a:lstStyle/>
            <a:p>
              <a:pPr algn="ctr">
                <a:lnSpc>
                  <a:spcPts val="7614"/>
                </a:lnSpc>
              </a:pPr>
              <a:r>
                <a:rPr lang="en-US" sz="5438" b="1">
                  <a:solidFill>
                    <a:srgbClr val="000000"/>
                  </a:solidFill>
                  <a:latin typeface="Times New Roman Bold"/>
                  <a:ea typeface="Times New Roman Bold"/>
                  <a:cs typeface="Times New Roman Bold"/>
                  <a:sym typeface="Times New Roman Bold"/>
                </a:rPr>
                <a:t>IDEA TITLE</a:t>
              </a:r>
            </a:p>
          </p:txBody>
        </p:sp>
      </p:grpSp>
      <p:grpSp>
        <p:nvGrpSpPr>
          <p:cNvPr id="16" name="Group 16"/>
          <p:cNvGrpSpPr/>
          <p:nvPr/>
        </p:nvGrpSpPr>
        <p:grpSpPr>
          <a:xfrm>
            <a:off x="3605773" y="9794298"/>
            <a:ext cx="10491193" cy="333608"/>
            <a:chOff x="0" y="0"/>
            <a:chExt cx="13988257" cy="444811"/>
          </a:xfrm>
        </p:grpSpPr>
        <p:sp>
          <p:nvSpPr>
            <p:cNvPr id="17" name="Freeform 17"/>
            <p:cNvSpPr/>
            <p:nvPr/>
          </p:nvSpPr>
          <p:spPr>
            <a:xfrm>
              <a:off x="0" y="0"/>
              <a:ext cx="13988258" cy="444811"/>
            </a:xfrm>
            <a:custGeom>
              <a:avLst/>
              <a:gdLst/>
              <a:ahLst/>
              <a:cxnLst/>
              <a:rect l="l" t="t" r="r" b="b"/>
              <a:pathLst>
                <a:path w="13988258" h="444811">
                  <a:moveTo>
                    <a:pt x="0" y="0"/>
                  </a:moveTo>
                  <a:lnTo>
                    <a:pt x="13988258" y="0"/>
                  </a:lnTo>
                  <a:lnTo>
                    <a:pt x="13988258" y="444811"/>
                  </a:lnTo>
                  <a:lnTo>
                    <a:pt x="0" y="444811"/>
                  </a:lnTo>
                  <a:close/>
                </a:path>
              </a:pathLst>
            </a:custGeom>
            <a:solidFill>
              <a:srgbClr val="000000">
                <a:alpha val="0"/>
              </a:srgbClr>
            </a:solidFill>
          </p:spPr>
        </p:sp>
        <p:sp>
          <p:nvSpPr>
            <p:cNvPr id="18" name="TextBox 18"/>
            <p:cNvSpPr txBox="1"/>
            <p:nvPr/>
          </p:nvSpPr>
          <p:spPr>
            <a:xfrm>
              <a:off x="0" y="-57150"/>
              <a:ext cx="13988257" cy="501961"/>
            </a:xfrm>
            <a:prstGeom prst="rect">
              <a:avLst/>
            </a:prstGeom>
          </p:spPr>
          <p:txBody>
            <a:bodyPr lIns="0" tIns="0" rIns="0" bIns="0" rtlCol="0" anchor="t"/>
            <a:lstStyle/>
            <a:p>
              <a:pPr algn="ctr">
                <a:lnSpc>
                  <a:spcPts val="2611"/>
                </a:lnSpc>
              </a:pPr>
              <a:r>
                <a:rPr lang="en-US" sz="1864" b="1">
                  <a:solidFill>
                    <a:srgbClr val="F4E9EC"/>
                  </a:solidFill>
                  <a:latin typeface="Poppins Bold"/>
                  <a:ea typeface="Poppins Bold"/>
                  <a:cs typeface="Poppins Bold"/>
                  <a:sym typeface="Poppins Bold"/>
                </a:rPr>
                <a:t>Sri Indu College of Engg &amp; Tech - Cyber Club, Department of Cyber Security</a:t>
              </a:r>
            </a:p>
          </p:txBody>
        </p:sp>
      </p:grpSp>
      <p:grpSp>
        <p:nvGrpSpPr>
          <p:cNvPr id="19" name="Group 19"/>
          <p:cNvGrpSpPr/>
          <p:nvPr/>
        </p:nvGrpSpPr>
        <p:grpSpPr>
          <a:xfrm>
            <a:off x="793672" y="952500"/>
            <a:ext cx="1949527" cy="664028"/>
            <a:chOff x="0" y="0"/>
            <a:chExt cx="2599369" cy="885371"/>
          </a:xfrm>
        </p:grpSpPr>
        <p:sp>
          <p:nvSpPr>
            <p:cNvPr id="20" name="Freeform 20"/>
            <p:cNvSpPr/>
            <p:nvPr/>
          </p:nvSpPr>
          <p:spPr>
            <a:xfrm>
              <a:off x="0" y="0"/>
              <a:ext cx="2599369" cy="885371"/>
            </a:xfrm>
            <a:custGeom>
              <a:avLst/>
              <a:gdLst/>
              <a:ahLst/>
              <a:cxnLst/>
              <a:rect l="l" t="t" r="r" b="b"/>
              <a:pathLst>
                <a:path w="2599369" h="885371">
                  <a:moveTo>
                    <a:pt x="0" y="0"/>
                  </a:moveTo>
                  <a:lnTo>
                    <a:pt x="2599369" y="0"/>
                  </a:lnTo>
                  <a:lnTo>
                    <a:pt x="2599369" y="885371"/>
                  </a:lnTo>
                  <a:lnTo>
                    <a:pt x="0" y="885371"/>
                  </a:lnTo>
                  <a:close/>
                </a:path>
              </a:pathLst>
            </a:custGeom>
            <a:solidFill>
              <a:srgbClr val="000000">
                <a:alpha val="0"/>
              </a:srgbClr>
            </a:solidFill>
          </p:spPr>
        </p:sp>
        <p:sp>
          <p:nvSpPr>
            <p:cNvPr id="21" name="TextBox 21"/>
            <p:cNvSpPr txBox="1"/>
            <p:nvPr/>
          </p:nvSpPr>
          <p:spPr>
            <a:xfrm>
              <a:off x="0" y="-85725"/>
              <a:ext cx="2599369" cy="971096"/>
            </a:xfrm>
            <a:prstGeom prst="rect">
              <a:avLst/>
            </a:prstGeom>
          </p:spPr>
          <p:txBody>
            <a:bodyPr lIns="0" tIns="0" rIns="0" bIns="0" rtlCol="0" anchor="t"/>
            <a:lstStyle/>
            <a:p>
              <a:pPr algn="ctr">
                <a:lnSpc>
                  <a:spcPts val="2706"/>
                </a:lnSpc>
              </a:pPr>
              <a:r>
                <a:rPr lang="en-US" sz="1932" b="1">
                  <a:solidFill>
                    <a:srgbClr val="000000"/>
                  </a:solidFill>
                  <a:latin typeface="Times New Roman Bold"/>
                  <a:ea typeface="Times New Roman Bold"/>
                  <a:cs typeface="Times New Roman Bold"/>
                  <a:sym typeface="Times New Roman Bold"/>
                </a:rPr>
                <a:t>TEAM </a:t>
              </a:r>
            </a:p>
            <a:p>
              <a:pPr algn="ctr">
                <a:lnSpc>
                  <a:spcPts val="2706"/>
                </a:lnSpc>
              </a:pPr>
              <a:r>
                <a:rPr lang="en-US" sz="1932" b="1">
                  <a:solidFill>
                    <a:srgbClr val="000000"/>
                  </a:solidFill>
                  <a:latin typeface="Times New Roman Bold"/>
                  <a:ea typeface="Times New Roman Bold"/>
                  <a:cs typeface="Times New Roman Bold"/>
                  <a:sym typeface="Times New Roman Bold"/>
                </a:rPr>
                <a:t>SHOURYANGAS</a:t>
              </a:r>
            </a:p>
          </p:txBody>
        </p:sp>
      </p:grpSp>
      <p:grpSp>
        <p:nvGrpSpPr>
          <p:cNvPr id="22" name="Group 22"/>
          <p:cNvGrpSpPr/>
          <p:nvPr/>
        </p:nvGrpSpPr>
        <p:grpSpPr>
          <a:xfrm>
            <a:off x="2603148" y="2935119"/>
            <a:ext cx="12496443" cy="1518574"/>
            <a:chOff x="0" y="0"/>
            <a:chExt cx="16661924" cy="2024765"/>
          </a:xfrm>
        </p:grpSpPr>
        <p:sp>
          <p:nvSpPr>
            <p:cNvPr id="23" name="Freeform 23"/>
            <p:cNvSpPr/>
            <p:nvPr/>
          </p:nvSpPr>
          <p:spPr>
            <a:xfrm>
              <a:off x="0" y="0"/>
              <a:ext cx="16661924" cy="2024765"/>
            </a:xfrm>
            <a:custGeom>
              <a:avLst/>
              <a:gdLst/>
              <a:ahLst/>
              <a:cxnLst/>
              <a:rect l="l" t="t" r="r" b="b"/>
              <a:pathLst>
                <a:path w="16661924" h="2024765">
                  <a:moveTo>
                    <a:pt x="0" y="0"/>
                  </a:moveTo>
                  <a:lnTo>
                    <a:pt x="16661924" y="0"/>
                  </a:lnTo>
                  <a:lnTo>
                    <a:pt x="16661924" y="2024765"/>
                  </a:lnTo>
                  <a:lnTo>
                    <a:pt x="0" y="2024765"/>
                  </a:lnTo>
                  <a:close/>
                </a:path>
              </a:pathLst>
            </a:custGeom>
            <a:solidFill>
              <a:srgbClr val="000000">
                <a:alpha val="0"/>
              </a:srgbClr>
            </a:solidFill>
          </p:spPr>
        </p:sp>
        <p:sp>
          <p:nvSpPr>
            <p:cNvPr id="24" name="TextBox 24"/>
            <p:cNvSpPr txBox="1"/>
            <p:nvPr/>
          </p:nvSpPr>
          <p:spPr>
            <a:xfrm>
              <a:off x="0" y="-161925"/>
              <a:ext cx="16661924" cy="2186690"/>
            </a:xfrm>
            <a:prstGeom prst="rect">
              <a:avLst/>
            </a:prstGeom>
          </p:spPr>
          <p:txBody>
            <a:bodyPr lIns="0" tIns="0" rIns="0" bIns="0" rtlCol="0" anchor="t"/>
            <a:lstStyle/>
            <a:p>
              <a:pPr algn="ctr">
                <a:lnSpc>
                  <a:spcPts val="5410"/>
                </a:lnSpc>
              </a:pPr>
              <a:r>
                <a:rPr lang="en-US" sz="3864" b="1">
                  <a:solidFill>
                    <a:srgbClr val="000000"/>
                  </a:solidFill>
                  <a:latin typeface="Times New Roman Semi-Bold"/>
                  <a:ea typeface="Times New Roman Semi-Bold"/>
                  <a:cs typeface="Times New Roman Semi-Bold"/>
                  <a:sym typeface="Times New Roman Semi-Bold"/>
                </a:rPr>
                <a:t>AI-Powered Resume Analyzer for Recruiters</a:t>
              </a:r>
            </a:p>
            <a:p>
              <a:pPr algn="ctr">
                <a:lnSpc>
                  <a:spcPts val="5412"/>
                </a:lnSpc>
              </a:pPr>
              <a:endParaRPr lang="en-US" sz="3864" b="1">
                <a:solidFill>
                  <a:srgbClr val="000000"/>
                </a:solidFill>
                <a:latin typeface="Times New Roman Semi-Bold"/>
                <a:ea typeface="Times New Roman Semi-Bold"/>
                <a:cs typeface="Times New Roman Semi-Bold"/>
                <a:sym typeface="Times New Roman Semi-Bold"/>
              </a:endParaRPr>
            </a:p>
          </p:txBody>
        </p:sp>
      </p:grpSp>
      <p:grpSp>
        <p:nvGrpSpPr>
          <p:cNvPr id="25" name="Group 25"/>
          <p:cNvGrpSpPr/>
          <p:nvPr/>
        </p:nvGrpSpPr>
        <p:grpSpPr>
          <a:xfrm>
            <a:off x="381000" y="4453693"/>
            <a:ext cx="17643641" cy="3966407"/>
            <a:chOff x="0" y="0"/>
            <a:chExt cx="23524855" cy="5288543"/>
          </a:xfrm>
        </p:grpSpPr>
        <p:sp>
          <p:nvSpPr>
            <p:cNvPr id="26" name="Freeform 26"/>
            <p:cNvSpPr/>
            <p:nvPr/>
          </p:nvSpPr>
          <p:spPr>
            <a:xfrm>
              <a:off x="0" y="0"/>
              <a:ext cx="23524856" cy="5288543"/>
            </a:xfrm>
            <a:custGeom>
              <a:avLst/>
              <a:gdLst/>
              <a:ahLst/>
              <a:cxnLst/>
              <a:rect l="l" t="t" r="r" b="b"/>
              <a:pathLst>
                <a:path w="23524856" h="5288543">
                  <a:moveTo>
                    <a:pt x="0" y="0"/>
                  </a:moveTo>
                  <a:lnTo>
                    <a:pt x="23524856" y="0"/>
                  </a:lnTo>
                  <a:lnTo>
                    <a:pt x="23524856" y="5288543"/>
                  </a:lnTo>
                  <a:lnTo>
                    <a:pt x="0" y="5288543"/>
                  </a:lnTo>
                  <a:close/>
                </a:path>
              </a:pathLst>
            </a:custGeom>
            <a:solidFill>
              <a:srgbClr val="000000">
                <a:alpha val="0"/>
              </a:srgbClr>
            </a:solidFill>
          </p:spPr>
        </p:sp>
        <p:sp>
          <p:nvSpPr>
            <p:cNvPr id="27" name="TextBox 27"/>
            <p:cNvSpPr txBox="1"/>
            <p:nvPr/>
          </p:nvSpPr>
          <p:spPr>
            <a:xfrm>
              <a:off x="0" y="-238125"/>
              <a:ext cx="23524855" cy="5526668"/>
            </a:xfrm>
            <a:prstGeom prst="rect">
              <a:avLst/>
            </a:prstGeom>
          </p:spPr>
          <p:txBody>
            <a:bodyPr lIns="0" tIns="0" rIns="0" bIns="0" rtlCol="0" anchor="t"/>
            <a:lstStyle/>
            <a:p>
              <a:pPr algn="l">
                <a:lnSpc>
                  <a:spcPts val="6301"/>
                </a:lnSpc>
              </a:pPr>
              <a:r>
                <a:rPr lang="en-US" sz="3900">
                  <a:solidFill>
                    <a:srgbClr val="000000"/>
                  </a:solidFill>
                  <a:latin typeface="Calibri (MS)"/>
                  <a:ea typeface="Calibri (MS)"/>
                  <a:cs typeface="Calibri (MS)"/>
                  <a:sym typeface="Calibri (MS)"/>
                </a:rPr>
                <a:t>Our system automates resume screening by first parsing OCRed resumes into structured JSON (skills, experience, education) using a fine-tuned NER model. It then embeds both resume data and job descriptions with Sentence-BERT (or a local Ollama LLM) and computes a match score via cosine similarity and a lightweight classifier, producing a “YES” or “REJECTED” verdict. </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38888" b="-38888"/>
              </a:stretch>
            </a:blipFill>
          </p:spPr>
        </p:sp>
      </p:grpSp>
      <p:grpSp>
        <p:nvGrpSpPr>
          <p:cNvPr id="4" name="Group 4"/>
          <p:cNvGrpSpPr/>
          <p:nvPr/>
        </p:nvGrpSpPr>
        <p:grpSpPr>
          <a:xfrm>
            <a:off x="15910982" y="463512"/>
            <a:ext cx="2113659" cy="1009272"/>
            <a:chOff x="0" y="0"/>
            <a:chExt cx="2818212" cy="1345696"/>
          </a:xfrm>
        </p:grpSpPr>
        <p:sp>
          <p:nvSpPr>
            <p:cNvPr id="5" name="Freeform 5"/>
            <p:cNvSpPr/>
            <p:nvPr/>
          </p:nvSpPr>
          <p:spPr>
            <a:xfrm>
              <a:off x="0" y="0"/>
              <a:ext cx="2818257" cy="1345692"/>
            </a:xfrm>
            <a:custGeom>
              <a:avLst/>
              <a:gdLst/>
              <a:ahLst/>
              <a:cxnLst/>
              <a:rect l="l" t="t" r="r" b="b"/>
              <a:pathLst>
                <a:path w="2818257" h="1345692">
                  <a:moveTo>
                    <a:pt x="0" y="0"/>
                  </a:moveTo>
                  <a:lnTo>
                    <a:pt x="2818257" y="0"/>
                  </a:lnTo>
                  <a:lnTo>
                    <a:pt x="2818257" y="1345692"/>
                  </a:lnTo>
                  <a:lnTo>
                    <a:pt x="0" y="1345692"/>
                  </a:lnTo>
                  <a:lnTo>
                    <a:pt x="0" y="0"/>
                  </a:lnTo>
                  <a:close/>
                </a:path>
              </a:pathLst>
            </a:custGeom>
            <a:blipFill>
              <a:blip r:embed="rId3"/>
              <a:stretch>
                <a:fillRect t="-112" r="1" b="-112"/>
              </a:stretch>
            </a:blipFill>
          </p:spPr>
        </p:sp>
      </p:grpSp>
      <p:grpSp>
        <p:nvGrpSpPr>
          <p:cNvPr id="6" name="Group 6"/>
          <p:cNvGrpSpPr/>
          <p:nvPr/>
        </p:nvGrpSpPr>
        <p:grpSpPr>
          <a:xfrm>
            <a:off x="45723" y="9692353"/>
            <a:ext cx="18242277" cy="594647"/>
            <a:chOff x="0" y="0"/>
            <a:chExt cx="24323036" cy="792863"/>
          </a:xfrm>
        </p:grpSpPr>
        <p:sp>
          <p:nvSpPr>
            <p:cNvPr id="7" name="Freeform 7"/>
            <p:cNvSpPr/>
            <p:nvPr/>
          </p:nvSpPr>
          <p:spPr>
            <a:xfrm>
              <a:off x="0" y="0"/>
              <a:ext cx="24323039" cy="792861"/>
            </a:xfrm>
            <a:custGeom>
              <a:avLst/>
              <a:gdLst/>
              <a:ahLst/>
              <a:cxnLst/>
              <a:rect l="l" t="t" r="r" b="b"/>
              <a:pathLst>
                <a:path w="24323039" h="792861">
                  <a:moveTo>
                    <a:pt x="0" y="0"/>
                  </a:moveTo>
                  <a:lnTo>
                    <a:pt x="24323039" y="0"/>
                  </a:lnTo>
                  <a:lnTo>
                    <a:pt x="24323039" y="792861"/>
                  </a:lnTo>
                  <a:lnTo>
                    <a:pt x="0" y="792861"/>
                  </a:lnTo>
                  <a:lnTo>
                    <a:pt x="0" y="0"/>
                  </a:lnTo>
                  <a:close/>
                </a:path>
              </a:pathLst>
            </a:custGeom>
            <a:blipFill>
              <a:blip r:embed="rId4"/>
              <a:stretch>
                <a:fillRect t="-16723" b="-16723"/>
              </a:stretch>
            </a:blipFill>
          </p:spPr>
        </p:sp>
      </p:grpSp>
      <p:grpSp>
        <p:nvGrpSpPr>
          <p:cNvPr id="8" name="Group 8"/>
          <p:cNvGrpSpPr/>
          <p:nvPr/>
        </p:nvGrpSpPr>
        <p:grpSpPr>
          <a:xfrm>
            <a:off x="16666900" y="9794298"/>
            <a:ext cx="1621100" cy="333608"/>
            <a:chOff x="0" y="0"/>
            <a:chExt cx="2161467" cy="444811"/>
          </a:xfrm>
        </p:grpSpPr>
        <p:sp>
          <p:nvSpPr>
            <p:cNvPr id="9" name="Freeform 9"/>
            <p:cNvSpPr/>
            <p:nvPr/>
          </p:nvSpPr>
          <p:spPr>
            <a:xfrm>
              <a:off x="0" y="0"/>
              <a:ext cx="2161467" cy="444811"/>
            </a:xfrm>
            <a:custGeom>
              <a:avLst/>
              <a:gdLst/>
              <a:ahLst/>
              <a:cxnLst/>
              <a:rect l="l" t="t" r="r" b="b"/>
              <a:pathLst>
                <a:path w="2161467" h="444811">
                  <a:moveTo>
                    <a:pt x="0" y="0"/>
                  </a:moveTo>
                  <a:lnTo>
                    <a:pt x="2161467" y="0"/>
                  </a:lnTo>
                  <a:lnTo>
                    <a:pt x="2161467" y="444811"/>
                  </a:lnTo>
                  <a:lnTo>
                    <a:pt x="0" y="444811"/>
                  </a:lnTo>
                  <a:close/>
                </a:path>
              </a:pathLst>
            </a:custGeom>
            <a:solidFill>
              <a:srgbClr val="000000">
                <a:alpha val="0"/>
              </a:srgbClr>
            </a:solidFill>
          </p:spPr>
        </p:sp>
        <p:sp>
          <p:nvSpPr>
            <p:cNvPr id="10" name="TextBox 10"/>
            <p:cNvSpPr txBox="1"/>
            <p:nvPr/>
          </p:nvSpPr>
          <p:spPr>
            <a:xfrm>
              <a:off x="0" y="-57150"/>
              <a:ext cx="2161467" cy="501961"/>
            </a:xfrm>
            <a:prstGeom prst="rect">
              <a:avLst/>
            </a:prstGeom>
          </p:spPr>
          <p:txBody>
            <a:bodyPr lIns="0" tIns="0" rIns="0" bIns="0" rtlCol="0" anchor="t"/>
            <a:lstStyle/>
            <a:p>
              <a:pPr algn="l">
                <a:lnSpc>
                  <a:spcPts val="2611"/>
                </a:lnSpc>
              </a:pPr>
              <a:r>
                <a:rPr lang="en-US" sz="1864" b="1">
                  <a:solidFill>
                    <a:srgbClr val="F4E9EC"/>
                  </a:solidFill>
                  <a:latin typeface="Poppins Bold"/>
                  <a:ea typeface="Poppins Bold"/>
                  <a:cs typeface="Poppins Bold"/>
                  <a:sym typeface="Poppins Bold"/>
                </a:rPr>
                <a:t>Page 03</a:t>
              </a:r>
            </a:p>
          </p:txBody>
        </p:sp>
      </p:grpSp>
      <p:grpSp>
        <p:nvGrpSpPr>
          <p:cNvPr id="11" name="Group 11"/>
          <p:cNvGrpSpPr/>
          <p:nvPr/>
        </p:nvGrpSpPr>
        <p:grpSpPr>
          <a:xfrm>
            <a:off x="4721124" y="640956"/>
            <a:ext cx="9226960" cy="1071994"/>
            <a:chOff x="0" y="0"/>
            <a:chExt cx="12302613" cy="1429325"/>
          </a:xfrm>
        </p:grpSpPr>
        <p:sp>
          <p:nvSpPr>
            <p:cNvPr id="12" name="Freeform 12"/>
            <p:cNvSpPr/>
            <p:nvPr/>
          </p:nvSpPr>
          <p:spPr>
            <a:xfrm>
              <a:off x="0" y="0"/>
              <a:ext cx="12302613" cy="1429325"/>
            </a:xfrm>
            <a:custGeom>
              <a:avLst/>
              <a:gdLst/>
              <a:ahLst/>
              <a:cxnLst/>
              <a:rect l="l" t="t" r="r" b="b"/>
              <a:pathLst>
                <a:path w="12302613" h="1429325">
                  <a:moveTo>
                    <a:pt x="0" y="0"/>
                  </a:moveTo>
                  <a:lnTo>
                    <a:pt x="12302613" y="0"/>
                  </a:lnTo>
                  <a:lnTo>
                    <a:pt x="12302613" y="1429325"/>
                  </a:lnTo>
                  <a:lnTo>
                    <a:pt x="0" y="1429325"/>
                  </a:lnTo>
                  <a:close/>
                </a:path>
              </a:pathLst>
            </a:custGeom>
            <a:solidFill>
              <a:srgbClr val="000000">
                <a:alpha val="0"/>
              </a:srgbClr>
            </a:solidFill>
          </p:spPr>
        </p:sp>
        <p:sp>
          <p:nvSpPr>
            <p:cNvPr id="13" name="TextBox 13"/>
            <p:cNvSpPr txBox="1"/>
            <p:nvPr/>
          </p:nvSpPr>
          <p:spPr>
            <a:xfrm>
              <a:off x="0" y="-219075"/>
              <a:ext cx="12302613" cy="1648400"/>
            </a:xfrm>
            <a:prstGeom prst="rect">
              <a:avLst/>
            </a:prstGeom>
          </p:spPr>
          <p:txBody>
            <a:bodyPr lIns="0" tIns="0" rIns="0" bIns="0" rtlCol="0" anchor="t"/>
            <a:lstStyle/>
            <a:p>
              <a:pPr algn="ctr">
                <a:lnSpc>
                  <a:spcPts val="7919"/>
                </a:lnSpc>
              </a:pPr>
              <a:r>
                <a:rPr lang="en-US" sz="5655" b="1">
                  <a:solidFill>
                    <a:srgbClr val="000000"/>
                  </a:solidFill>
                  <a:latin typeface="Times New Roman Bold"/>
                  <a:ea typeface="Times New Roman Bold"/>
                  <a:cs typeface="Times New Roman Bold"/>
                  <a:sym typeface="Times New Roman Bold"/>
                </a:rPr>
                <a:t>TECHNICAL APPROACH</a:t>
              </a:r>
            </a:p>
          </p:txBody>
        </p:sp>
      </p:grpSp>
      <p:grpSp>
        <p:nvGrpSpPr>
          <p:cNvPr id="14" name="Group 14"/>
          <p:cNvGrpSpPr/>
          <p:nvPr/>
        </p:nvGrpSpPr>
        <p:grpSpPr>
          <a:xfrm>
            <a:off x="3164261" y="9794298"/>
            <a:ext cx="10783824" cy="333608"/>
            <a:chOff x="0" y="0"/>
            <a:chExt cx="14378432" cy="444811"/>
          </a:xfrm>
        </p:grpSpPr>
        <p:sp>
          <p:nvSpPr>
            <p:cNvPr id="15" name="Freeform 15"/>
            <p:cNvSpPr/>
            <p:nvPr/>
          </p:nvSpPr>
          <p:spPr>
            <a:xfrm>
              <a:off x="0" y="0"/>
              <a:ext cx="14378432" cy="444811"/>
            </a:xfrm>
            <a:custGeom>
              <a:avLst/>
              <a:gdLst/>
              <a:ahLst/>
              <a:cxnLst/>
              <a:rect l="l" t="t" r="r" b="b"/>
              <a:pathLst>
                <a:path w="14378432" h="444811">
                  <a:moveTo>
                    <a:pt x="0" y="0"/>
                  </a:moveTo>
                  <a:lnTo>
                    <a:pt x="14378432" y="0"/>
                  </a:lnTo>
                  <a:lnTo>
                    <a:pt x="14378432" y="444811"/>
                  </a:lnTo>
                  <a:lnTo>
                    <a:pt x="0" y="444811"/>
                  </a:lnTo>
                  <a:close/>
                </a:path>
              </a:pathLst>
            </a:custGeom>
            <a:solidFill>
              <a:srgbClr val="000000">
                <a:alpha val="0"/>
              </a:srgbClr>
            </a:solidFill>
          </p:spPr>
        </p:sp>
        <p:sp>
          <p:nvSpPr>
            <p:cNvPr id="16" name="TextBox 16"/>
            <p:cNvSpPr txBox="1"/>
            <p:nvPr/>
          </p:nvSpPr>
          <p:spPr>
            <a:xfrm>
              <a:off x="0" y="-57150"/>
              <a:ext cx="14378432" cy="501961"/>
            </a:xfrm>
            <a:prstGeom prst="rect">
              <a:avLst/>
            </a:prstGeom>
          </p:spPr>
          <p:txBody>
            <a:bodyPr lIns="0" tIns="0" rIns="0" bIns="0" rtlCol="0" anchor="t"/>
            <a:lstStyle/>
            <a:p>
              <a:pPr algn="ctr">
                <a:lnSpc>
                  <a:spcPts val="2611"/>
                </a:lnSpc>
              </a:pPr>
              <a:r>
                <a:rPr lang="en-US" sz="1864" b="1">
                  <a:solidFill>
                    <a:srgbClr val="F4E9EC"/>
                  </a:solidFill>
                  <a:latin typeface="Poppins Bold"/>
                  <a:ea typeface="Poppins Bold"/>
                  <a:cs typeface="Poppins Bold"/>
                  <a:sym typeface="Poppins Bold"/>
                </a:rPr>
                <a:t>Sri Indu College of Engg &amp; Tech - Cyber Club, Department of Cyber Security</a:t>
              </a:r>
            </a:p>
          </p:txBody>
        </p:sp>
      </p:grpSp>
      <p:grpSp>
        <p:nvGrpSpPr>
          <p:cNvPr id="17" name="Group 17"/>
          <p:cNvGrpSpPr/>
          <p:nvPr/>
        </p:nvGrpSpPr>
        <p:grpSpPr>
          <a:xfrm>
            <a:off x="578499" y="3628287"/>
            <a:ext cx="17583673" cy="7993342"/>
            <a:chOff x="0" y="0"/>
            <a:chExt cx="23444897" cy="10657789"/>
          </a:xfrm>
        </p:grpSpPr>
        <p:sp>
          <p:nvSpPr>
            <p:cNvPr id="18" name="Freeform 18"/>
            <p:cNvSpPr/>
            <p:nvPr/>
          </p:nvSpPr>
          <p:spPr>
            <a:xfrm>
              <a:off x="0" y="0"/>
              <a:ext cx="23444898" cy="10657789"/>
            </a:xfrm>
            <a:custGeom>
              <a:avLst/>
              <a:gdLst/>
              <a:ahLst/>
              <a:cxnLst/>
              <a:rect l="l" t="t" r="r" b="b"/>
              <a:pathLst>
                <a:path w="23444898" h="10657789">
                  <a:moveTo>
                    <a:pt x="0" y="0"/>
                  </a:moveTo>
                  <a:lnTo>
                    <a:pt x="23444898" y="0"/>
                  </a:lnTo>
                  <a:lnTo>
                    <a:pt x="23444898" y="10657789"/>
                  </a:lnTo>
                  <a:lnTo>
                    <a:pt x="0" y="10657789"/>
                  </a:lnTo>
                  <a:close/>
                </a:path>
              </a:pathLst>
            </a:custGeom>
            <a:solidFill>
              <a:srgbClr val="000000">
                <a:alpha val="0"/>
              </a:srgbClr>
            </a:solidFill>
          </p:spPr>
        </p:sp>
        <p:sp>
          <p:nvSpPr>
            <p:cNvPr id="19" name="TextBox 19"/>
            <p:cNvSpPr txBox="1"/>
            <p:nvPr/>
          </p:nvSpPr>
          <p:spPr>
            <a:xfrm>
              <a:off x="0" y="-238125"/>
              <a:ext cx="23444897" cy="10895914"/>
            </a:xfrm>
            <a:prstGeom prst="rect">
              <a:avLst/>
            </a:prstGeom>
          </p:spPr>
          <p:txBody>
            <a:bodyPr lIns="0" tIns="0" rIns="0" bIns="0" rtlCol="0" anchor="t"/>
            <a:lstStyle/>
            <a:p>
              <a:pPr algn="l">
                <a:lnSpc>
                  <a:spcPts val="6301"/>
                </a:lnSpc>
              </a:pPr>
              <a:r>
                <a:rPr lang="en-US" sz="3870">
                  <a:solidFill>
                    <a:srgbClr val="000000"/>
                  </a:solidFill>
                  <a:latin typeface="Calibri (MS)"/>
                  <a:ea typeface="Calibri (MS)"/>
                  <a:cs typeface="Calibri (MS)"/>
                  <a:sym typeface="Calibri (MS)"/>
                </a:rPr>
                <a:t>•Technologies to be used (Python, FastAPI, React, Tailwind CSS, SpaCy, Sentence-BERT, XGBoost, Ollama (local LLM), PostgreSQL, Pinecone, Docker, NVIDIA GPU.)</a:t>
              </a:r>
            </a:p>
            <a:p>
              <a:pPr algn="l">
                <a:lnSpc>
                  <a:spcPts val="6301"/>
                </a:lnSpc>
              </a:pPr>
              <a:endParaRPr lang="en-US" sz="3870">
                <a:solidFill>
                  <a:srgbClr val="000000"/>
                </a:solidFill>
                <a:latin typeface="Calibri (MS)"/>
                <a:ea typeface="Calibri (MS)"/>
                <a:cs typeface="Calibri (MS)"/>
                <a:sym typeface="Calibri (MS)"/>
              </a:endParaRPr>
            </a:p>
            <a:p>
              <a:pPr algn="l">
                <a:lnSpc>
                  <a:spcPts val="6300"/>
                </a:lnSpc>
              </a:pPr>
              <a:r>
                <a:rPr lang="en-US" sz="3865">
                  <a:solidFill>
                    <a:srgbClr val="000000"/>
                  </a:solidFill>
                  <a:latin typeface="Times New Roman"/>
                  <a:ea typeface="Times New Roman"/>
                  <a:cs typeface="Times New Roman"/>
                  <a:sym typeface="Times New Roman"/>
                </a:rPr>
                <a:t>•Methodology and process for implementation :</a:t>
              </a:r>
            </a:p>
            <a:p>
              <a:pPr algn="l">
                <a:lnSpc>
                  <a:spcPts val="6301"/>
                </a:lnSpc>
              </a:pPr>
              <a:r>
                <a:rPr lang="en-US" sz="4000">
                  <a:solidFill>
                    <a:srgbClr val="000000"/>
                  </a:solidFill>
                  <a:latin typeface="Calibri (MS)"/>
                  <a:ea typeface="Calibri (MS)"/>
                  <a:cs typeface="Calibri (MS)"/>
                  <a:sym typeface="Calibri (MS)"/>
                </a:rPr>
                <a:t>Upload OCR’d resume + JD → NER parse → JSON → SBERT embed → cosine similarity → XGBoost classify → Ollama feedback → Store &amp; display in dashboards</a:t>
              </a:r>
            </a:p>
            <a:p>
              <a:pPr algn="l">
                <a:lnSpc>
                  <a:spcPts val="6301"/>
                </a:lnSpc>
              </a:pPr>
              <a:endParaRPr lang="en-US" sz="4000">
                <a:solidFill>
                  <a:srgbClr val="000000"/>
                </a:solidFill>
                <a:latin typeface="Calibri (MS)"/>
                <a:ea typeface="Calibri (MS)"/>
                <a:cs typeface="Calibri (MS)"/>
                <a:sym typeface="Calibri (MS)"/>
              </a:endParaRPr>
            </a:p>
            <a:p>
              <a:pPr algn="l">
                <a:lnSpc>
                  <a:spcPts val="6301"/>
                </a:lnSpc>
              </a:pPr>
              <a:endParaRPr lang="en-US" sz="4000">
                <a:solidFill>
                  <a:srgbClr val="000000"/>
                </a:solidFill>
                <a:latin typeface="Calibri (MS)"/>
                <a:ea typeface="Calibri (MS)"/>
                <a:cs typeface="Calibri (MS)"/>
                <a:sym typeface="Calibri (MS)"/>
              </a:endParaRPr>
            </a:p>
            <a:p>
              <a:pPr algn="l">
                <a:lnSpc>
                  <a:spcPts val="6301"/>
                </a:lnSpc>
              </a:pPr>
              <a:endParaRPr lang="en-US" sz="4000">
                <a:solidFill>
                  <a:srgbClr val="000000"/>
                </a:solidFill>
                <a:latin typeface="Calibri (MS)"/>
                <a:ea typeface="Calibri (MS)"/>
                <a:cs typeface="Calibri (MS)"/>
                <a:sym typeface="Calibri (MS)"/>
              </a:endParaRPr>
            </a:p>
            <a:p>
              <a:pPr algn="l">
                <a:lnSpc>
                  <a:spcPts val="6301"/>
                </a:lnSpc>
              </a:pPr>
              <a:endParaRPr lang="en-US" sz="4000">
                <a:solidFill>
                  <a:srgbClr val="000000"/>
                </a:solidFill>
                <a:latin typeface="Calibri (MS)"/>
                <a:ea typeface="Calibri (MS)"/>
                <a:cs typeface="Calibri (MS)"/>
                <a:sym typeface="Calibri (MS)"/>
              </a:endParaRPr>
            </a:p>
          </p:txBody>
        </p:sp>
      </p:grpSp>
      <p:sp>
        <p:nvSpPr>
          <p:cNvPr id="20" name="Freeform 20"/>
          <p:cNvSpPr/>
          <p:nvPr/>
        </p:nvSpPr>
        <p:spPr>
          <a:xfrm>
            <a:off x="578499" y="674602"/>
            <a:ext cx="2393301" cy="1383480"/>
          </a:xfrm>
          <a:custGeom>
            <a:avLst/>
            <a:gdLst/>
            <a:ahLst/>
            <a:cxnLst/>
            <a:rect l="l" t="t" r="r" b="b"/>
            <a:pathLst>
              <a:path w="2393301" h="1383480">
                <a:moveTo>
                  <a:pt x="0" y="0"/>
                </a:moveTo>
                <a:lnTo>
                  <a:pt x="2393301" y="0"/>
                </a:lnTo>
                <a:lnTo>
                  <a:pt x="2393301" y="1383480"/>
                </a:lnTo>
                <a:lnTo>
                  <a:pt x="0" y="1383480"/>
                </a:lnTo>
                <a:lnTo>
                  <a:pt x="0" y="0"/>
                </a:lnTo>
                <a:close/>
              </a:path>
            </a:pathLst>
          </a:custGeom>
          <a:blipFill>
            <a:blip r:embed="rId5">
              <a:extLst>
                <a:ext uri="{96DAC541-7B7A-43D3-8B79-37D633B846F1}">
                  <asvg:svgBlip xmlns:asvg="http://schemas.microsoft.com/office/drawing/2016/SVG/main" r:embed="rId6"/>
                </a:ext>
              </a:extLst>
            </a:blip>
            <a:stretch>
              <a:fillRect t="-3888" b="-3888"/>
            </a:stretch>
          </a:blipFill>
        </p:spPr>
      </p:sp>
      <p:grpSp>
        <p:nvGrpSpPr>
          <p:cNvPr id="21" name="Group 21"/>
          <p:cNvGrpSpPr/>
          <p:nvPr/>
        </p:nvGrpSpPr>
        <p:grpSpPr>
          <a:xfrm>
            <a:off x="793672" y="952500"/>
            <a:ext cx="1949527" cy="664028"/>
            <a:chOff x="0" y="0"/>
            <a:chExt cx="2599369" cy="885371"/>
          </a:xfrm>
        </p:grpSpPr>
        <p:sp>
          <p:nvSpPr>
            <p:cNvPr id="22" name="Freeform 22"/>
            <p:cNvSpPr/>
            <p:nvPr/>
          </p:nvSpPr>
          <p:spPr>
            <a:xfrm>
              <a:off x="0" y="0"/>
              <a:ext cx="2599369" cy="885371"/>
            </a:xfrm>
            <a:custGeom>
              <a:avLst/>
              <a:gdLst/>
              <a:ahLst/>
              <a:cxnLst/>
              <a:rect l="l" t="t" r="r" b="b"/>
              <a:pathLst>
                <a:path w="2599369" h="885371">
                  <a:moveTo>
                    <a:pt x="0" y="0"/>
                  </a:moveTo>
                  <a:lnTo>
                    <a:pt x="2599369" y="0"/>
                  </a:lnTo>
                  <a:lnTo>
                    <a:pt x="2599369" y="885371"/>
                  </a:lnTo>
                  <a:lnTo>
                    <a:pt x="0" y="885371"/>
                  </a:lnTo>
                  <a:close/>
                </a:path>
              </a:pathLst>
            </a:custGeom>
            <a:solidFill>
              <a:srgbClr val="000000">
                <a:alpha val="0"/>
              </a:srgbClr>
            </a:solidFill>
          </p:spPr>
        </p:sp>
        <p:sp>
          <p:nvSpPr>
            <p:cNvPr id="23" name="TextBox 23"/>
            <p:cNvSpPr txBox="1"/>
            <p:nvPr/>
          </p:nvSpPr>
          <p:spPr>
            <a:xfrm>
              <a:off x="0" y="-85725"/>
              <a:ext cx="2599369" cy="971096"/>
            </a:xfrm>
            <a:prstGeom prst="rect">
              <a:avLst/>
            </a:prstGeom>
          </p:spPr>
          <p:txBody>
            <a:bodyPr lIns="0" tIns="0" rIns="0" bIns="0" rtlCol="0" anchor="t"/>
            <a:lstStyle/>
            <a:p>
              <a:pPr algn="ctr">
                <a:lnSpc>
                  <a:spcPts val="2706"/>
                </a:lnSpc>
              </a:pPr>
              <a:r>
                <a:rPr lang="en-US" sz="1932" b="1">
                  <a:solidFill>
                    <a:srgbClr val="000000"/>
                  </a:solidFill>
                  <a:latin typeface="Times New Roman Bold"/>
                  <a:ea typeface="Times New Roman Bold"/>
                  <a:cs typeface="Times New Roman Bold"/>
                  <a:sym typeface="Times New Roman Bold"/>
                </a:rPr>
                <a:t>TEAM </a:t>
              </a:r>
            </a:p>
            <a:p>
              <a:pPr algn="ctr">
                <a:lnSpc>
                  <a:spcPts val="2706"/>
                </a:lnSpc>
              </a:pPr>
              <a:r>
                <a:rPr lang="en-US" sz="1932" b="1">
                  <a:solidFill>
                    <a:srgbClr val="000000"/>
                  </a:solidFill>
                  <a:latin typeface="Times New Roman Bold"/>
                  <a:ea typeface="Times New Roman Bold"/>
                  <a:cs typeface="Times New Roman Bold"/>
                  <a:sym typeface="Times New Roman Bold"/>
                </a:rPr>
                <a:t>SHOURYANGAS</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1430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38888" b="-38888"/>
              </a:stretch>
            </a:blipFill>
          </p:spPr>
        </p:sp>
      </p:grpSp>
      <p:grpSp>
        <p:nvGrpSpPr>
          <p:cNvPr id="4" name="Group 4"/>
          <p:cNvGrpSpPr/>
          <p:nvPr/>
        </p:nvGrpSpPr>
        <p:grpSpPr>
          <a:xfrm>
            <a:off x="15910982" y="463512"/>
            <a:ext cx="2113659" cy="1009272"/>
            <a:chOff x="0" y="0"/>
            <a:chExt cx="2818212" cy="1345696"/>
          </a:xfrm>
        </p:grpSpPr>
        <p:sp>
          <p:nvSpPr>
            <p:cNvPr id="5" name="Freeform 5"/>
            <p:cNvSpPr/>
            <p:nvPr/>
          </p:nvSpPr>
          <p:spPr>
            <a:xfrm>
              <a:off x="0" y="0"/>
              <a:ext cx="2818257" cy="1345692"/>
            </a:xfrm>
            <a:custGeom>
              <a:avLst/>
              <a:gdLst/>
              <a:ahLst/>
              <a:cxnLst/>
              <a:rect l="l" t="t" r="r" b="b"/>
              <a:pathLst>
                <a:path w="2818257" h="1345692">
                  <a:moveTo>
                    <a:pt x="0" y="0"/>
                  </a:moveTo>
                  <a:lnTo>
                    <a:pt x="2818257" y="0"/>
                  </a:lnTo>
                  <a:lnTo>
                    <a:pt x="2818257" y="1345692"/>
                  </a:lnTo>
                  <a:lnTo>
                    <a:pt x="0" y="1345692"/>
                  </a:lnTo>
                  <a:lnTo>
                    <a:pt x="0" y="0"/>
                  </a:lnTo>
                  <a:close/>
                </a:path>
              </a:pathLst>
            </a:custGeom>
            <a:blipFill>
              <a:blip r:embed="rId3"/>
              <a:stretch>
                <a:fillRect t="-112" r="1" b="-112"/>
              </a:stretch>
            </a:blipFill>
          </p:spPr>
        </p:sp>
      </p:grpSp>
      <p:grpSp>
        <p:nvGrpSpPr>
          <p:cNvPr id="6" name="Group 6"/>
          <p:cNvGrpSpPr/>
          <p:nvPr/>
        </p:nvGrpSpPr>
        <p:grpSpPr>
          <a:xfrm>
            <a:off x="45723" y="9692353"/>
            <a:ext cx="18242277" cy="594647"/>
            <a:chOff x="0" y="0"/>
            <a:chExt cx="24323036" cy="792863"/>
          </a:xfrm>
        </p:grpSpPr>
        <p:sp>
          <p:nvSpPr>
            <p:cNvPr id="7" name="Freeform 7"/>
            <p:cNvSpPr/>
            <p:nvPr/>
          </p:nvSpPr>
          <p:spPr>
            <a:xfrm>
              <a:off x="0" y="0"/>
              <a:ext cx="24323039" cy="792861"/>
            </a:xfrm>
            <a:custGeom>
              <a:avLst/>
              <a:gdLst/>
              <a:ahLst/>
              <a:cxnLst/>
              <a:rect l="l" t="t" r="r" b="b"/>
              <a:pathLst>
                <a:path w="24323039" h="792861">
                  <a:moveTo>
                    <a:pt x="0" y="0"/>
                  </a:moveTo>
                  <a:lnTo>
                    <a:pt x="24323039" y="0"/>
                  </a:lnTo>
                  <a:lnTo>
                    <a:pt x="24323039" y="792861"/>
                  </a:lnTo>
                  <a:lnTo>
                    <a:pt x="0" y="792861"/>
                  </a:lnTo>
                  <a:lnTo>
                    <a:pt x="0" y="0"/>
                  </a:lnTo>
                  <a:close/>
                </a:path>
              </a:pathLst>
            </a:custGeom>
            <a:blipFill>
              <a:blip r:embed="rId4"/>
              <a:stretch>
                <a:fillRect t="-16723" b="-16723"/>
              </a:stretch>
            </a:blipFill>
          </p:spPr>
        </p:sp>
      </p:grpSp>
      <p:grpSp>
        <p:nvGrpSpPr>
          <p:cNvPr id="8" name="Group 8"/>
          <p:cNvGrpSpPr/>
          <p:nvPr/>
        </p:nvGrpSpPr>
        <p:grpSpPr>
          <a:xfrm>
            <a:off x="16666900" y="9794298"/>
            <a:ext cx="1621100" cy="333608"/>
            <a:chOff x="0" y="0"/>
            <a:chExt cx="2161467" cy="444811"/>
          </a:xfrm>
        </p:grpSpPr>
        <p:sp>
          <p:nvSpPr>
            <p:cNvPr id="9" name="Freeform 9"/>
            <p:cNvSpPr/>
            <p:nvPr/>
          </p:nvSpPr>
          <p:spPr>
            <a:xfrm>
              <a:off x="0" y="0"/>
              <a:ext cx="2161467" cy="444811"/>
            </a:xfrm>
            <a:custGeom>
              <a:avLst/>
              <a:gdLst/>
              <a:ahLst/>
              <a:cxnLst/>
              <a:rect l="l" t="t" r="r" b="b"/>
              <a:pathLst>
                <a:path w="2161467" h="444811">
                  <a:moveTo>
                    <a:pt x="0" y="0"/>
                  </a:moveTo>
                  <a:lnTo>
                    <a:pt x="2161467" y="0"/>
                  </a:lnTo>
                  <a:lnTo>
                    <a:pt x="2161467" y="444811"/>
                  </a:lnTo>
                  <a:lnTo>
                    <a:pt x="0" y="444811"/>
                  </a:lnTo>
                  <a:close/>
                </a:path>
              </a:pathLst>
            </a:custGeom>
            <a:solidFill>
              <a:srgbClr val="000000">
                <a:alpha val="0"/>
              </a:srgbClr>
            </a:solidFill>
          </p:spPr>
        </p:sp>
        <p:sp>
          <p:nvSpPr>
            <p:cNvPr id="10" name="TextBox 10"/>
            <p:cNvSpPr txBox="1"/>
            <p:nvPr/>
          </p:nvSpPr>
          <p:spPr>
            <a:xfrm>
              <a:off x="0" y="-57150"/>
              <a:ext cx="2161467" cy="501961"/>
            </a:xfrm>
            <a:prstGeom prst="rect">
              <a:avLst/>
            </a:prstGeom>
          </p:spPr>
          <p:txBody>
            <a:bodyPr lIns="0" tIns="0" rIns="0" bIns="0" rtlCol="0" anchor="t"/>
            <a:lstStyle/>
            <a:p>
              <a:pPr algn="l">
                <a:lnSpc>
                  <a:spcPts val="2611"/>
                </a:lnSpc>
              </a:pPr>
              <a:r>
                <a:rPr lang="en-US" sz="1864" b="1">
                  <a:solidFill>
                    <a:srgbClr val="F4E9EC"/>
                  </a:solidFill>
                  <a:latin typeface="Poppins Bold"/>
                  <a:ea typeface="Poppins Bold"/>
                  <a:cs typeface="Poppins Bold"/>
                  <a:sym typeface="Poppins Bold"/>
                </a:rPr>
                <a:t>Page 04</a:t>
              </a:r>
            </a:p>
          </p:txBody>
        </p:sp>
      </p:grpSp>
      <p:grpSp>
        <p:nvGrpSpPr>
          <p:cNvPr id="11" name="Group 11"/>
          <p:cNvGrpSpPr/>
          <p:nvPr/>
        </p:nvGrpSpPr>
        <p:grpSpPr>
          <a:xfrm>
            <a:off x="3876856" y="455527"/>
            <a:ext cx="10590345" cy="1039155"/>
            <a:chOff x="0" y="0"/>
            <a:chExt cx="14120460" cy="1385540"/>
          </a:xfrm>
        </p:grpSpPr>
        <p:sp>
          <p:nvSpPr>
            <p:cNvPr id="12" name="Freeform 12"/>
            <p:cNvSpPr/>
            <p:nvPr/>
          </p:nvSpPr>
          <p:spPr>
            <a:xfrm>
              <a:off x="0" y="0"/>
              <a:ext cx="14120461" cy="1385540"/>
            </a:xfrm>
            <a:custGeom>
              <a:avLst/>
              <a:gdLst/>
              <a:ahLst/>
              <a:cxnLst/>
              <a:rect l="l" t="t" r="r" b="b"/>
              <a:pathLst>
                <a:path w="14120461" h="1385540">
                  <a:moveTo>
                    <a:pt x="0" y="0"/>
                  </a:moveTo>
                  <a:lnTo>
                    <a:pt x="14120461" y="0"/>
                  </a:lnTo>
                  <a:lnTo>
                    <a:pt x="14120461" y="1385540"/>
                  </a:lnTo>
                  <a:lnTo>
                    <a:pt x="0" y="1385540"/>
                  </a:lnTo>
                  <a:close/>
                </a:path>
              </a:pathLst>
            </a:custGeom>
            <a:solidFill>
              <a:srgbClr val="000000">
                <a:alpha val="0"/>
              </a:srgbClr>
            </a:solidFill>
          </p:spPr>
        </p:sp>
        <p:sp>
          <p:nvSpPr>
            <p:cNvPr id="13" name="TextBox 13"/>
            <p:cNvSpPr txBox="1"/>
            <p:nvPr/>
          </p:nvSpPr>
          <p:spPr>
            <a:xfrm>
              <a:off x="0" y="-219075"/>
              <a:ext cx="14120460" cy="1604615"/>
            </a:xfrm>
            <a:prstGeom prst="rect">
              <a:avLst/>
            </a:prstGeom>
          </p:spPr>
          <p:txBody>
            <a:bodyPr lIns="0" tIns="0" rIns="0" bIns="0" rtlCol="0" anchor="t"/>
            <a:lstStyle/>
            <a:p>
              <a:pPr algn="ctr">
                <a:lnSpc>
                  <a:spcPts val="7614"/>
                </a:lnSpc>
              </a:pPr>
              <a:r>
                <a:rPr lang="en-US" sz="5438" b="1">
                  <a:solidFill>
                    <a:srgbClr val="000000"/>
                  </a:solidFill>
                  <a:latin typeface="Times New Roman Bold"/>
                  <a:ea typeface="Times New Roman Bold"/>
                  <a:cs typeface="Times New Roman Bold"/>
                  <a:sym typeface="Times New Roman Bold"/>
                </a:rPr>
                <a:t>FEASIBILITY AND VIABILITY</a:t>
              </a:r>
            </a:p>
          </p:txBody>
        </p:sp>
      </p:grpSp>
      <p:grpSp>
        <p:nvGrpSpPr>
          <p:cNvPr id="14" name="Group 14"/>
          <p:cNvGrpSpPr/>
          <p:nvPr/>
        </p:nvGrpSpPr>
        <p:grpSpPr>
          <a:xfrm>
            <a:off x="3348719" y="9794298"/>
            <a:ext cx="10603743" cy="333608"/>
            <a:chOff x="0" y="0"/>
            <a:chExt cx="14138324" cy="444811"/>
          </a:xfrm>
        </p:grpSpPr>
        <p:sp>
          <p:nvSpPr>
            <p:cNvPr id="15" name="Freeform 15"/>
            <p:cNvSpPr/>
            <p:nvPr/>
          </p:nvSpPr>
          <p:spPr>
            <a:xfrm>
              <a:off x="0" y="0"/>
              <a:ext cx="14138325" cy="444811"/>
            </a:xfrm>
            <a:custGeom>
              <a:avLst/>
              <a:gdLst/>
              <a:ahLst/>
              <a:cxnLst/>
              <a:rect l="l" t="t" r="r" b="b"/>
              <a:pathLst>
                <a:path w="14138325" h="444811">
                  <a:moveTo>
                    <a:pt x="0" y="0"/>
                  </a:moveTo>
                  <a:lnTo>
                    <a:pt x="14138325" y="0"/>
                  </a:lnTo>
                  <a:lnTo>
                    <a:pt x="14138325" y="444811"/>
                  </a:lnTo>
                  <a:lnTo>
                    <a:pt x="0" y="444811"/>
                  </a:lnTo>
                  <a:close/>
                </a:path>
              </a:pathLst>
            </a:custGeom>
            <a:solidFill>
              <a:srgbClr val="000000">
                <a:alpha val="0"/>
              </a:srgbClr>
            </a:solidFill>
          </p:spPr>
        </p:sp>
        <p:sp>
          <p:nvSpPr>
            <p:cNvPr id="16" name="TextBox 16"/>
            <p:cNvSpPr txBox="1"/>
            <p:nvPr/>
          </p:nvSpPr>
          <p:spPr>
            <a:xfrm>
              <a:off x="0" y="-57150"/>
              <a:ext cx="14138324" cy="501961"/>
            </a:xfrm>
            <a:prstGeom prst="rect">
              <a:avLst/>
            </a:prstGeom>
          </p:spPr>
          <p:txBody>
            <a:bodyPr lIns="0" tIns="0" rIns="0" bIns="0" rtlCol="0" anchor="t"/>
            <a:lstStyle/>
            <a:p>
              <a:pPr algn="ctr">
                <a:lnSpc>
                  <a:spcPts val="2611"/>
                </a:lnSpc>
              </a:pPr>
              <a:r>
                <a:rPr lang="en-US" sz="1864" b="1">
                  <a:solidFill>
                    <a:srgbClr val="F4E9EC"/>
                  </a:solidFill>
                  <a:latin typeface="Poppins Bold"/>
                  <a:ea typeface="Poppins Bold"/>
                  <a:cs typeface="Poppins Bold"/>
                  <a:sym typeface="Poppins Bold"/>
                </a:rPr>
                <a:t>Sri Indu College of Engg &amp; Tech - Cyber Club, Department of Cyber Security</a:t>
              </a:r>
            </a:p>
          </p:txBody>
        </p:sp>
      </p:grpSp>
      <p:grpSp>
        <p:nvGrpSpPr>
          <p:cNvPr id="17" name="Group 17"/>
          <p:cNvGrpSpPr/>
          <p:nvPr/>
        </p:nvGrpSpPr>
        <p:grpSpPr>
          <a:xfrm>
            <a:off x="793674" y="3086100"/>
            <a:ext cx="17230968" cy="4641014"/>
            <a:chOff x="0" y="0"/>
            <a:chExt cx="22974624" cy="6188019"/>
          </a:xfrm>
        </p:grpSpPr>
        <p:sp>
          <p:nvSpPr>
            <p:cNvPr id="18" name="Freeform 18"/>
            <p:cNvSpPr/>
            <p:nvPr/>
          </p:nvSpPr>
          <p:spPr>
            <a:xfrm>
              <a:off x="0" y="0"/>
              <a:ext cx="22974624" cy="6188019"/>
            </a:xfrm>
            <a:custGeom>
              <a:avLst/>
              <a:gdLst/>
              <a:ahLst/>
              <a:cxnLst/>
              <a:rect l="l" t="t" r="r" b="b"/>
              <a:pathLst>
                <a:path w="22974624" h="6188019">
                  <a:moveTo>
                    <a:pt x="0" y="0"/>
                  </a:moveTo>
                  <a:lnTo>
                    <a:pt x="22974624" y="0"/>
                  </a:lnTo>
                  <a:lnTo>
                    <a:pt x="22974624" y="6188019"/>
                  </a:lnTo>
                  <a:lnTo>
                    <a:pt x="0" y="6188019"/>
                  </a:lnTo>
                  <a:close/>
                </a:path>
              </a:pathLst>
            </a:custGeom>
            <a:solidFill>
              <a:srgbClr val="000000">
                <a:alpha val="0"/>
              </a:srgbClr>
            </a:solidFill>
          </p:spPr>
        </p:sp>
        <p:sp>
          <p:nvSpPr>
            <p:cNvPr id="19" name="TextBox 19"/>
            <p:cNvSpPr txBox="1"/>
            <p:nvPr/>
          </p:nvSpPr>
          <p:spPr>
            <a:xfrm>
              <a:off x="0" y="-342900"/>
              <a:ext cx="22974624" cy="6530919"/>
            </a:xfrm>
            <a:prstGeom prst="rect">
              <a:avLst/>
            </a:prstGeom>
          </p:spPr>
          <p:txBody>
            <a:bodyPr lIns="0" tIns="0" rIns="0" bIns="0" rtlCol="0" anchor="t"/>
            <a:lstStyle/>
            <a:p>
              <a:pPr algn="l">
                <a:lnSpc>
                  <a:spcPts val="7411"/>
                </a:lnSpc>
              </a:pPr>
              <a:r>
                <a:rPr lang="en-US" sz="3900">
                  <a:solidFill>
                    <a:srgbClr val="000000"/>
                  </a:solidFill>
                  <a:latin typeface="Times New Roman"/>
                  <a:ea typeface="Times New Roman"/>
                  <a:cs typeface="Times New Roman"/>
                  <a:sym typeface="Times New Roman"/>
                </a:rPr>
                <a:t>• The project is highly feasible using open-source NLP libraries, local LLMs (via Ollama), and cloud infrastructure.</a:t>
              </a:r>
            </a:p>
            <a:p>
              <a:pPr algn="l">
                <a:lnSpc>
                  <a:spcPts val="7411"/>
                </a:lnSpc>
              </a:pPr>
              <a:r>
                <a:rPr lang="en-US" sz="3900">
                  <a:solidFill>
                    <a:srgbClr val="000000"/>
                  </a:solidFill>
                  <a:latin typeface="Times New Roman"/>
                  <a:ea typeface="Times New Roman"/>
                  <a:cs typeface="Times New Roman"/>
                  <a:sym typeface="Times New Roman"/>
                </a:rPr>
                <a:t>• Model Hallucinations – LLMs may generate inaccurate feedback if not carefully prompted or fine-tuned</a:t>
              </a:r>
            </a:p>
            <a:p>
              <a:pPr algn="l">
                <a:lnSpc>
                  <a:spcPts val="7411"/>
                </a:lnSpc>
              </a:pPr>
              <a:r>
                <a:rPr lang="en-US" sz="3900">
                  <a:solidFill>
                    <a:srgbClr val="000000"/>
                  </a:solidFill>
                  <a:latin typeface="Times New Roman"/>
                  <a:ea typeface="Times New Roman"/>
                  <a:cs typeface="Times New Roman"/>
                  <a:sym typeface="Times New Roman"/>
                </a:rPr>
                <a:t>•Use hybrid parsing to increase robustness across formats.</a:t>
              </a:r>
            </a:p>
          </p:txBody>
        </p:sp>
      </p:grpSp>
      <p:sp>
        <p:nvSpPr>
          <p:cNvPr id="20" name="Freeform 20"/>
          <p:cNvSpPr/>
          <p:nvPr/>
        </p:nvSpPr>
        <p:spPr>
          <a:xfrm>
            <a:off x="578499" y="674602"/>
            <a:ext cx="2393301" cy="1383480"/>
          </a:xfrm>
          <a:custGeom>
            <a:avLst/>
            <a:gdLst/>
            <a:ahLst/>
            <a:cxnLst/>
            <a:rect l="l" t="t" r="r" b="b"/>
            <a:pathLst>
              <a:path w="2393301" h="1383480">
                <a:moveTo>
                  <a:pt x="0" y="0"/>
                </a:moveTo>
                <a:lnTo>
                  <a:pt x="2393301" y="0"/>
                </a:lnTo>
                <a:lnTo>
                  <a:pt x="2393301" y="1383480"/>
                </a:lnTo>
                <a:lnTo>
                  <a:pt x="0" y="1383480"/>
                </a:lnTo>
                <a:lnTo>
                  <a:pt x="0" y="0"/>
                </a:lnTo>
                <a:close/>
              </a:path>
            </a:pathLst>
          </a:custGeom>
          <a:blipFill>
            <a:blip r:embed="rId5">
              <a:extLst>
                <a:ext uri="{96DAC541-7B7A-43D3-8B79-37D633B846F1}">
                  <asvg:svgBlip xmlns:asvg="http://schemas.microsoft.com/office/drawing/2016/SVG/main" r:embed="rId6"/>
                </a:ext>
              </a:extLst>
            </a:blip>
            <a:stretch>
              <a:fillRect t="-3888" b="-3888"/>
            </a:stretch>
          </a:blipFill>
        </p:spPr>
      </p:sp>
      <p:grpSp>
        <p:nvGrpSpPr>
          <p:cNvPr id="21" name="Group 21"/>
          <p:cNvGrpSpPr/>
          <p:nvPr/>
        </p:nvGrpSpPr>
        <p:grpSpPr>
          <a:xfrm>
            <a:off x="793672" y="952500"/>
            <a:ext cx="1949527" cy="664028"/>
            <a:chOff x="0" y="0"/>
            <a:chExt cx="2599369" cy="885371"/>
          </a:xfrm>
        </p:grpSpPr>
        <p:sp>
          <p:nvSpPr>
            <p:cNvPr id="22" name="Freeform 22"/>
            <p:cNvSpPr/>
            <p:nvPr/>
          </p:nvSpPr>
          <p:spPr>
            <a:xfrm>
              <a:off x="0" y="0"/>
              <a:ext cx="2599369" cy="885371"/>
            </a:xfrm>
            <a:custGeom>
              <a:avLst/>
              <a:gdLst/>
              <a:ahLst/>
              <a:cxnLst/>
              <a:rect l="l" t="t" r="r" b="b"/>
              <a:pathLst>
                <a:path w="2599369" h="885371">
                  <a:moveTo>
                    <a:pt x="0" y="0"/>
                  </a:moveTo>
                  <a:lnTo>
                    <a:pt x="2599369" y="0"/>
                  </a:lnTo>
                  <a:lnTo>
                    <a:pt x="2599369" y="885371"/>
                  </a:lnTo>
                  <a:lnTo>
                    <a:pt x="0" y="885371"/>
                  </a:lnTo>
                  <a:close/>
                </a:path>
              </a:pathLst>
            </a:custGeom>
            <a:solidFill>
              <a:srgbClr val="000000">
                <a:alpha val="0"/>
              </a:srgbClr>
            </a:solidFill>
          </p:spPr>
        </p:sp>
        <p:sp>
          <p:nvSpPr>
            <p:cNvPr id="23" name="TextBox 23"/>
            <p:cNvSpPr txBox="1"/>
            <p:nvPr/>
          </p:nvSpPr>
          <p:spPr>
            <a:xfrm>
              <a:off x="0" y="-85725"/>
              <a:ext cx="2599369" cy="971096"/>
            </a:xfrm>
            <a:prstGeom prst="rect">
              <a:avLst/>
            </a:prstGeom>
          </p:spPr>
          <p:txBody>
            <a:bodyPr lIns="0" tIns="0" rIns="0" bIns="0" rtlCol="0" anchor="t"/>
            <a:lstStyle/>
            <a:p>
              <a:pPr algn="ctr">
                <a:lnSpc>
                  <a:spcPts val="2706"/>
                </a:lnSpc>
              </a:pPr>
              <a:r>
                <a:rPr lang="en-US" sz="1932" b="1">
                  <a:solidFill>
                    <a:srgbClr val="000000"/>
                  </a:solidFill>
                  <a:latin typeface="Times New Roman Bold"/>
                  <a:ea typeface="Times New Roman Bold"/>
                  <a:cs typeface="Times New Roman Bold"/>
                  <a:sym typeface="Times New Roman Bold"/>
                </a:rPr>
                <a:t>TEAM </a:t>
              </a:r>
            </a:p>
            <a:p>
              <a:pPr algn="ctr">
                <a:lnSpc>
                  <a:spcPts val="2706"/>
                </a:lnSpc>
              </a:pPr>
              <a:r>
                <a:rPr lang="en-US" sz="1932" b="1">
                  <a:solidFill>
                    <a:srgbClr val="000000"/>
                  </a:solidFill>
                  <a:latin typeface="Times New Roman Bold"/>
                  <a:ea typeface="Times New Roman Bold"/>
                  <a:cs typeface="Times New Roman Bold"/>
                  <a:sym typeface="Times New Roman Bold"/>
                </a:rPr>
                <a:t>SHOURYANGAS</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38888" b="-38888"/>
              </a:stretch>
            </a:blipFill>
          </p:spPr>
        </p:sp>
      </p:grpSp>
      <p:grpSp>
        <p:nvGrpSpPr>
          <p:cNvPr id="4" name="Group 4"/>
          <p:cNvGrpSpPr/>
          <p:nvPr/>
        </p:nvGrpSpPr>
        <p:grpSpPr>
          <a:xfrm>
            <a:off x="15910982" y="463512"/>
            <a:ext cx="2113659" cy="1009272"/>
            <a:chOff x="0" y="0"/>
            <a:chExt cx="2818212" cy="1345696"/>
          </a:xfrm>
        </p:grpSpPr>
        <p:sp>
          <p:nvSpPr>
            <p:cNvPr id="5" name="Freeform 5"/>
            <p:cNvSpPr/>
            <p:nvPr/>
          </p:nvSpPr>
          <p:spPr>
            <a:xfrm>
              <a:off x="0" y="0"/>
              <a:ext cx="2818257" cy="1345692"/>
            </a:xfrm>
            <a:custGeom>
              <a:avLst/>
              <a:gdLst/>
              <a:ahLst/>
              <a:cxnLst/>
              <a:rect l="l" t="t" r="r" b="b"/>
              <a:pathLst>
                <a:path w="2818257" h="1345692">
                  <a:moveTo>
                    <a:pt x="0" y="0"/>
                  </a:moveTo>
                  <a:lnTo>
                    <a:pt x="2818257" y="0"/>
                  </a:lnTo>
                  <a:lnTo>
                    <a:pt x="2818257" y="1345692"/>
                  </a:lnTo>
                  <a:lnTo>
                    <a:pt x="0" y="1345692"/>
                  </a:lnTo>
                  <a:lnTo>
                    <a:pt x="0" y="0"/>
                  </a:lnTo>
                  <a:close/>
                </a:path>
              </a:pathLst>
            </a:custGeom>
            <a:blipFill>
              <a:blip r:embed="rId3"/>
              <a:stretch>
                <a:fillRect t="-112" r="1" b="-112"/>
              </a:stretch>
            </a:blipFill>
          </p:spPr>
        </p:sp>
      </p:grpSp>
      <p:grpSp>
        <p:nvGrpSpPr>
          <p:cNvPr id="6" name="Group 6"/>
          <p:cNvGrpSpPr/>
          <p:nvPr/>
        </p:nvGrpSpPr>
        <p:grpSpPr>
          <a:xfrm>
            <a:off x="45723" y="9692353"/>
            <a:ext cx="18242277" cy="594647"/>
            <a:chOff x="0" y="0"/>
            <a:chExt cx="24323036" cy="792863"/>
          </a:xfrm>
        </p:grpSpPr>
        <p:sp>
          <p:nvSpPr>
            <p:cNvPr id="7" name="Freeform 7"/>
            <p:cNvSpPr/>
            <p:nvPr/>
          </p:nvSpPr>
          <p:spPr>
            <a:xfrm>
              <a:off x="0" y="0"/>
              <a:ext cx="24323039" cy="792861"/>
            </a:xfrm>
            <a:custGeom>
              <a:avLst/>
              <a:gdLst/>
              <a:ahLst/>
              <a:cxnLst/>
              <a:rect l="l" t="t" r="r" b="b"/>
              <a:pathLst>
                <a:path w="24323039" h="792861">
                  <a:moveTo>
                    <a:pt x="0" y="0"/>
                  </a:moveTo>
                  <a:lnTo>
                    <a:pt x="24323039" y="0"/>
                  </a:lnTo>
                  <a:lnTo>
                    <a:pt x="24323039" y="792861"/>
                  </a:lnTo>
                  <a:lnTo>
                    <a:pt x="0" y="792861"/>
                  </a:lnTo>
                  <a:lnTo>
                    <a:pt x="0" y="0"/>
                  </a:lnTo>
                  <a:close/>
                </a:path>
              </a:pathLst>
            </a:custGeom>
            <a:blipFill>
              <a:blip r:embed="rId4"/>
              <a:stretch>
                <a:fillRect t="-16723" b="-16723"/>
              </a:stretch>
            </a:blipFill>
          </p:spPr>
        </p:sp>
      </p:grpSp>
      <p:grpSp>
        <p:nvGrpSpPr>
          <p:cNvPr id="8" name="Group 8"/>
          <p:cNvGrpSpPr/>
          <p:nvPr/>
        </p:nvGrpSpPr>
        <p:grpSpPr>
          <a:xfrm>
            <a:off x="16666900" y="9794298"/>
            <a:ext cx="1621100" cy="333608"/>
            <a:chOff x="0" y="0"/>
            <a:chExt cx="2161467" cy="444811"/>
          </a:xfrm>
        </p:grpSpPr>
        <p:sp>
          <p:nvSpPr>
            <p:cNvPr id="9" name="Freeform 9"/>
            <p:cNvSpPr/>
            <p:nvPr/>
          </p:nvSpPr>
          <p:spPr>
            <a:xfrm>
              <a:off x="0" y="0"/>
              <a:ext cx="2161467" cy="444811"/>
            </a:xfrm>
            <a:custGeom>
              <a:avLst/>
              <a:gdLst/>
              <a:ahLst/>
              <a:cxnLst/>
              <a:rect l="l" t="t" r="r" b="b"/>
              <a:pathLst>
                <a:path w="2161467" h="444811">
                  <a:moveTo>
                    <a:pt x="0" y="0"/>
                  </a:moveTo>
                  <a:lnTo>
                    <a:pt x="2161467" y="0"/>
                  </a:lnTo>
                  <a:lnTo>
                    <a:pt x="2161467" y="444811"/>
                  </a:lnTo>
                  <a:lnTo>
                    <a:pt x="0" y="444811"/>
                  </a:lnTo>
                  <a:close/>
                </a:path>
              </a:pathLst>
            </a:custGeom>
            <a:solidFill>
              <a:srgbClr val="000000">
                <a:alpha val="0"/>
              </a:srgbClr>
            </a:solidFill>
          </p:spPr>
        </p:sp>
        <p:sp>
          <p:nvSpPr>
            <p:cNvPr id="10" name="TextBox 10"/>
            <p:cNvSpPr txBox="1"/>
            <p:nvPr/>
          </p:nvSpPr>
          <p:spPr>
            <a:xfrm>
              <a:off x="0" y="-57150"/>
              <a:ext cx="2161467" cy="501961"/>
            </a:xfrm>
            <a:prstGeom prst="rect">
              <a:avLst/>
            </a:prstGeom>
          </p:spPr>
          <p:txBody>
            <a:bodyPr lIns="0" tIns="0" rIns="0" bIns="0" rtlCol="0" anchor="t"/>
            <a:lstStyle/>
            <a:p>
              <a:pPr algn="l">
                <a:lnSpc>
                  <a:spcPts val="2611"/>
                </a:lnSpc>
              </a:pPr>
              <a:r>
                <a:rPr lang="en-US" sz="1864" b="1">
                  <a:solidFill>
                    <a:srgbClr val="F4E9EC"/>
                  </a:solidFill>
                  <a:latin typeface="Poppins Bold"/>
                  <a:ea typeface="Poppins Bold"/>
                  <a:cs typeface="Poppins Bold"/>
                  <a:sym typeface="Poppins Bold"/>
                </a:rPr>
                <a:t>Page 05</a:t>
              </a:r>
            </a:p>
          </p:txBody>
        </p:sp>
      </p:grpSp>
      <p:grpSp>
        <p:nvGrpSpPr>
          <p:cNvPr id="11" name="Group 11"/>
          <p:cNvGrpSpPr/>
          <p:nvPr/>
        </p:nvGrpSpPr>
        <p:grpSpPr>
          <a:xfrm>
            <a:off x="4624650" y="565676"/>
            <a:ext cx="8879582" cy="1039155"/>
            <a:chOff x="0" y="0"/>
            <a:chExt cx="11839443" cy="1385540"/>
          </a:xfrm>
        </p:grpSpPr>
        <p:sp>
          <p:nvSpPr>
            <p:cNvPr id="12" name="Freeform 12"/>
            <p:cNvSpPr/>
            <p:nvPr/>
          </p:nvSpPr>
          <p:spPr>
            <a:xfrm>
              <a:off x="0" y="0"/>
              <a:ext cx="11839442" cy="1385540"/>
            </a:xfrm>
            <a:custGeom>
              <a:avLst/>
              <a:gdLst/>
              <a:ahLst/>
              <a:cxnLst/>
              <a:rect l="l" t="t" r="r" b="b"/>
              <a:pathLst>
                <a:path w="11839442" h="1385540">
                  <a:moveTo>
                    <a:pt x="0" y="0"/>
                  </a:moveTo>
                  <a:lnTo>
                    <a:pt x="11839442" y="0"/>
                  </a:lnTo>
                  <a:lnTo>
                    <a:pt x="11839442" y="1385540"/>
                  </a:lnTo>
                  <a:lnTo>
                    <a:pt x="0" y="1385540"/>
                  </a:lnTo>
                  <a:close/>
                </a:path>
              </a:pathLst>
            </a:custGeom>
            <a:solidFill>
              <a:srgbClr val="000000">
                <a:alpha val="0"/>
              </a:srgbClr>
            </a:solidFill>
          </p:spPr>
        </p:sp>
        <p:sp>
          <p:nvSpPr>
            <p:cNvPr id="13" name="TextBox 13"/>
            <p:cNvSpPr txBox="1"/>
            <p:nvPr/>
          </p:nvSpPr>
          <p:spPr>
            <a:xfrm>
              <a:off x="0" y="-219075"/>
              <a:ext cx="11839443" cy="1604615"/>
            </a:xfrm>
            <a:prstGeom prst="rect">
              <a:avLst/>
            </a:prstGeom>
          </p:spPr>
          <p:txBody>
            <a:bodyPr lIns="0" tIns="0" rIns="0" bIns="0" rtlCol="0" anchor="t"/>
            <a:lstStyle/>
            <a:p>
              <a:pPr algn="ctr">
                <a:lnSpc>
                  <a:spcPts val="7614"/>
                </a:lnSpc>
              </a:pPr>
              <a:r>
                <a:rPr lang="en-US" sz="5438" b="1">
                  <a:solidFill>
                    <a:srgbClr val="000000"/>
                  </a:solidFill>
                  <a:latin typeface="Times New Roman Bold"/>
                  <a:ea typeface="Times New Roman Bold"/>
                  <a:cs typeface="Times New Roman Bold"/>
                  <a:sym typeface="Times New Roman Bold"/>
                </a:rPr>
                <a:t>IMPACT AND BENEFITS</a:t>
              </a:r>
            </a:p>
          </p:txBody>
        </p:sp>
      </p:grpSp>
      <p:grpSp>
        <p:nvGrpSpPr>
          <p:cNvPr id="14" name="Group 14"/>
          <p:cNvGrpSpPr/>
          <p:nvPr/>
        </p:nvGrpSpPr>
        <p:grpSpPr>
          <a:xfrm>
            <a:off x="3663860" y="9794298"/>
            <a:ext cx="10176053" cy="333608"/>
            <a:chOff x="0" y="0"/>
            <a:chExt cx="13568071" cy="444811"/>
          </a:xfrm>
        </p:grpSpPr>
        <p:sp>
          <p:nvSpPr>
            <p:cNvPr id="15" name="Freeform 15"/>
            <p:cNvSpPr/>
            <p:nvPr/>
          </p:nvSpPr>
          <p:spPr>
            <a:xfrm>
              <a:off x="0" y="0"/>
              <a:ext cx="13568071" cy="444811"/>
            </a:xfrm>
            <a:custGeom>
              <a:avLst/>
              <a:gdLst/>
              <a:ahLst/>
              <a:cxnLst/>
              <a:rect l="l" t="t" r="r" b="b"/>
              <a:pathLst>
                <a:path w="13568071" h="444811">
                  <a:moveTo>
                    <a:pt x="0" y="0"/>
                  </a:moveTo>
                  <a:lnTo>
                    <a:pt x="13568071" y="0"/>
                  </a:lnTo>
                  <a:lnTo>
                    <a:pt x="13568071" y="444811"/>
                  </a:lnTo>
                  <a:lnTo>
                    <a:pt x="0" y="444811"/>
                  </a:lnTo>
                  <a:close/>
                </a:path>
              </a:pathLst>
            </a:custGeom>
            <a:solidFill>
              <a:srgbClr val="000000">
                <a:alpha val="0"/>
              </a:srgbClr>
            </a:solidFill>
          </p:spPr>
        </p:sp>
        <p:sp>
          <p:nvSpPr>
            <p:cNvPr id="16" name="TextBox 16"/>
            <p:cNvSpPr txBox="1"/>
            <p:nvPr/>
          </p:nvSpPr>
          <p:spPr>
            <a:xfrm>
              <a:off x="0" y="-57150"/>
              <a:ext cx="13568071" cy="501961"/>
            </a:xfrm>
            <a:prstGeom prst="rect">
              <a:avLst/>
            </a:prstGeom>
          </p:spPr>
          <p:txBody>
            <a:bodyPr lIns="0" tIns="0" rIns="0" bIns="0" rtlCol="0" anchor="t"/>
            <a:lstStyle/>
            <a:p>
              <a:pPr algn="ctr">
                <a:lnSpc>
                  <a:spcPts val="2611"/>
                </a:lnSpc>
              </a:pPr>
              <a:r>
                <a:rPr lang="en-US" sz="1864" b="1">
                  <a:solidFill>
                    <a:srgbClr val="F4E9EC"/>
                  </a:solidFill>
                  <a:latin typeface="Poppins Bold"/>
                  <a:ea typeface="Poppins Bold"/>
                  <a:cs typeface="Poppins Bold"/>
                  <a:sym typeface="Poppins Bold"/>
                </a:rPr>
                <a:t>Sri Indu College of Engg &amp; Tech - Cyber Club, Department of Cyber Security</a:t>
              </a:r>
            </a:p>
          </p:txBody>
        </p:sp>
      </p:grpSp>
      <p:grpSp>
        <p:nvGrpSpPr>
          <p:cNvPr id="17" name="Group 17"/>
          <p:cNvGrpSpPr/>
          <p:nvPr/>
        </p:nvGrpSpPr>
        <p:grpSpPr>
          <a:xfrm>
            <a:off x="578498" y="4146345"/>
            <a:ext cx="17176101" cy="2486643"/>
            <a:chOff x="0" y="0"/>
            <a:chExt cx="22901468" cy="3315524"/>
          </a:xfrm>
        </p:grpSpPr>
        <p:sp>
          <p:nvSpPr>
            <p:cNvPr id="18" name="Freeform 18"/>
            <p:cNvSpPr/>
            <p:nvPr/>
          </p:nvSpPr>
          <p:spPr>
            <a:xfrm>
              <a:off x="0" y="0"/>
              <a:ext cx="22901469" cy="3315524"/>
            </a:xfrm>
            <a:custGeom>
              <a:avLst/>
              <a:gdLst/>
              <a:ahLst/>
              <a:cxnLst/>
              <a:rect l="l" t="t" r="r" b="b"/>
              <a:pathLst>
                <a:path w="22901469" h="3315524">
                  <a:moveTo>
                    <a:pt x="0" y="0"/>
                  </a:moveTo>
                  <a:lnTo>
                    <a:pt x="22901469" y="0"/>
                  </a:lnTo>
                  <a:lnTo>
                    <a:pt x="22901469" y="3315524"/>
                  </a:lnTo>
                  <a:lnTo>
                    <a:pt x="0" y="3315524"/>
                  </a:lnTo>
                  <a:close/>
                </a:path>
              </a:pathLst>
            </a:custGeom>
            <a:solidFill>
              <a:srgbClr val="000000">
                <a:alpha val="0"/>
              </a:srgbClr>
            </a:solidFill>
          </p:spPr>
        </p:sp>
        <p:sp>
          <p:nvSpPr>
            <p:cNvPr id="19" name="TextBox 19"/>
            <p:cNvSpPr txBox="1"/>
            <p:nvPr/>
          </p:nvSpPr>
          <p:spPr>
            <a:xfrm>
              <a:off x="0" y="-276225"/>
              <a:ext cx="22901468" cy="3591749"/>
            </a:xfrm>
            <a:prstGeom prst="rect">
              <a:avLst/>
            </a:prstGeom>
          </p:spPr>
          <p:txBody>
            <a:bodyPr lIns="0" tIns="0" rIns="0" bIns="0" rtlCol="0" anchor="t"/>
            <a:lstStyle/>
            <a:p>
              <a:pPr algn="l">
                <a:lnSpc>
                  <a:spcPts val="6713"/>
                </a:lnSpc>
              </a:pPr>
              <a:r>
                <a:rPr lang="en-US" sz="3900">
                  <a:solidFill>
                    <a:srgbClr val="000000"/>
                  </a:solidFill>
                  <a:latin typeface="Times New Roman"/>
                  <a:ea typeface="Times New Roman"/>
                  <a:cs typeface="Times New Roman"/>
                  <a:sym typeface="Times New Roman"/>
                </a:rPr>
                <a:t>•HR Teams benefit from a fairer, bias-aware, and data-driven selection process.</a:t>
              </a:r>
            </a:p>
            <a:p>
              <a:pPr algn="l">
                <a:lnSpc>
                  <a:spcPts val="6713"/>
                </a:lnSpc>
              </a:pPr>
              <a:r>
                <a:rPr lang="en-US" sz="3900">
                  <a:solidFill>
                    <a:srgbClr val="000000"/>
                  </a:solidFill>
                  <a:latin typeface="Times New Roman"/>
                  <a:ea typeface="Times New Roman"/>
                  <a:cs typeface="Times New Roman"/>
                  <a:sym typeface="Times New Roman"/>
                </a:rPr>
                <a:t>•Promotes equal opportunity by reducing unconscious bias and giving all candidates structured feedback.</a:t>
              </a:r>
            </a:p>
          </p:txBody>
        </p:sp>
      </p:grpSp>
      <p:sp>
        <p:nvSpPr>
          <p:cNvPr id="20" name="Freeform 20"/>
          <p:cNvSpPr/>
          <p:nvPr/>
        </p:nvSpPr>
        <p:spPr>
          <a:xfrm>
            <a:off x="578499" y="674602"/>
            <a:ext cx="2393301" cy="1383480"/>
          </a:xfrm>
          <a:custGeom>
            <a:avLst/>
            <a:gdLst/>
            <a:ahLst/>
            <a:cxnLst/>
            <a:rect l="l" t="t" r="r" b="b"/>
            <a:pathLst>
              <a:path w="2393301" h="1383480">
                <a:moveTo>
                  <a:pt x="0" y="0"/>
                </a:moveTo>
                <a:lnTo>
                  <a:pt x="2393301" y="0"/>
                </a:lnTo>
                <a:lnTo>
                  <a:pt x="2393301" y="1383480"/>
                </a:lnTo>
                <a:lnTo>
                  <a:pt x="0" y="1383480"/>
                </a:lnTo>
                <a:lnTo>
                  <a:pt x="0" y="0"/>
                </a:lnTo>
                <a:close/>
              </a:path>
            </a:pathLst>
          </a:custGeom>
          <a:blipFill>
            <a:blip r:embed="rId5">
              <a:extLst>
                <a:ext uri="{96DAC541-7B7A-43D3-8B79-37D633B846F1}">
                  <asvg:svgBlip xmlns:asvg="http://schemas.microsoft.com/office/drawing/2016/SVG/main" r:embed="rId6"/>
                </a:ext>
              </a:extLst>
            </a:blip>
            <a:stretch>
              <a:fillRect t="-3888" b="-3888"/>
            </a:stretch>
          </a:blipFill>
        </p:spPr>
      </p:sp>
      <p:grpSp>
        <p:nvGrpSpPr>
          <p:cNvPr id="21" name="Group 21"/>
          <p:cNvGrpSpPr/>
          <p:nvPr/>
        </p:nvGrpSpPr>
        <p:grpSpPr>
          <a:xfrm>
            <a:off x="793672" y="952500"/>
            <a:ext cx="1949527" cy="664028"/>
            <a:chOff x="0" y="0"/>
            <a:chExt cx="2599369" cy="885371"/>
          </a:xfrm>
        </p:grpSpPr>
        <p:sp>
          <p:nvSpPr>
            <p:cNvPr id="22" name="Freeform 22"/>
            <p:cNvSpPr/>
            <p:nvPr/>
          </p:nvSpPr>
          <p:spPr>
            <a:xfrm>
              <a:off x="0" y="0"/>
              <a:ext cx="2599369" cy="885371"/>
            </a:xfrm>
            <a:custGeom>
              <a:avLst/>
              <a:gdLst/>
              <a:ahLst/>
              <a:cxnLst/>
              <a:rect l="l" t="t" r="r" b="b"/>
              <a:pathLst>
                <a:path w="2599369" h="885371">
                  <a:moveTo>
                    <a:pt x="0" y="0"/>
                  </a:moveTo>
                  <a:lnTo>
                    <a:pt x="2599369" y="0"/>
                  </a:lnTo>
                  <a:lnTo>
                    <a:pt x="2599369" y="885371"/>
                  </a:lnTo>
                  <a:lnTo>
                    <a:pt x="0" y="885371"/>
                  </a:lnTo>
                  <a:close/>
                </a:path>
              </a:pathLst>
            </a:custGeom>
            <a:solidFill>
              <a:srgbClr val="000000">
                <a:alpha val="0"/>
              </a:srgbClr>
            </a:solidFill>
          </p:spPr>
        </p:sp>
        <p:sp>
          <p:nvSpPr>
            <p:cNvPr id="23" name="TextBox 23"/>
            <p:cNvSpPr txBox="1"/>
            <p:nvPr/>
          </p:nvSpPr>
          <p:spPr>
            <a:xfrm>
              <a:off x="0" y="-85725"/>
              <a:ext cx="2599369" cy="971096"/>
            </a:xfrm>
            <a:prstGeom prst="rect">
              <a:avLst/>
            </a:prstGeom>
          </p:spPr>
          <p:txBody>
            <a:bodyPr lIns="0" tIns="0" rIns="0" bIns="0" rtlCol="0" anchor="t"/>
            <a:lstStyle/>
            <a:p>
              <a:pPr algn="ctr">
                <a:lnSpc>
                  <a:spcPts val="2706"/>
                </a:lnSpc>
              </a:pPr>
              <a:r>
                <a:rPr lang="en-US" sz="1932" b="1">
                  <a:solidFill>
                    <a:srgbClr val="000000"/>
                  </a:solidFill>
                  <a:latin typeface="Times New Roman Bold"/>
                  <a:ea typeface="Times New Roman Bold"/>
                  <a:cs typeface="Times New Roman Bold"/>
                  <a:sym typeface="Times New Roman Bold"/>
                </a:rPr>
                <a:t>TEAM </a:t>
              </a:r>
            </a:p>
            <a:p>
              <a:pPr algn="ctr">
                <a:lnSpc>
                  <a:spcPts val="2706"/>
                </a:lnSpc>
              </a:pPr>
              <a:r>
                <a:rPr lang="en-US" sz="1932" b="1">
                  <a:solidFill>
                    <a:srgbClr val="000000"/>
                  </a:solidFill>
                  <a:latin typeface="Times New Roman Bold"/>
                  <a:ea typeface="Times New Roman Bold"/>
                  <a:cs typeface="Times New Roman Bold"/>
                  <a:sym typeface="Times New Roman Bold"/>
                </a:rPr>
                <a:t>SHOURYANGAS</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38888" b="-38888"/>
              </a:stretch>
            </a:blipFill>
          </p:spPr>
        </p:sp>
      </p:grpSp>
      <p:grpSp>
        <p:nvGrpSpPr>
          <p:cNvPr id="4" name="Group 4"/>
          <p:cNvGrpSpPr/>
          <p:nvPr/>
        </p:nvGrpSpPr>
        <p:grpSpPr>
          <a:xfrm>
            <a:off x="15910982" y="463512"/>
            <a:ext cx="2113659" cy="1009272"/>
            <a:chOff x="0" y="0"/>
            <a:chExt cx="2818212" cy="1345696"/>
          </a:xfrm>
        </p:grpSpPr>
        <p:sp>
          <p:nvSpPr>
            <p:cNvPr id="5" name="Freeform 5"/>
            <p:cNvSpPr/>
            <p:nvPr/>
          </p:nvSpPr>
          <p:spPr>
            <a:xfrm>
              <a:off x="0" y="0"/>
              <a:ext cx="2818257" cy="1345692"/>
            </a:xfrm>
            <a:custGeom>
              <a:avLst/>
              <a:gdLst/>
              <a:ahLst/>
              <a:cxnLst/>
              <a:rect l="l" t="t" r="r" b="b"/>
              <a:pathLst>
                <a:path w="2818257" h="1345692">
                  <a:moveTo>
                    <a:pt x="0" y="0"/>
                  </a:moveTo>
                  <a:lnTo>
                    <a:pt x="2818257" y="0"/>
                  </a:lnTo>
                  <a:lnTo>
                    <a:pt x="2818257" y="1345692"/>
                  </a:lnTo>
                  <a:lnTo>
                    <a:pt x="0" y="1345692"/>
                  </a:lnTo>
                  <a:lnTo>
                    <a:pt x="0" y="0"/>
                  </a:lnTo>
                  <a:close/>
                </a:path>
              </a:pathLst>
            </a:custGeom>
            <a:blipFill>
              <a:blip r:embed="rId3"/>
              <a:stretch>
                <a:fillRect t="-112" r="1" b="-112"/>
              </a:stretch>
            </a:blipFill>
          </p:spPr>
        </p:sp>
      </p:grpSp>
      <p:grpSp>
        <p:nvGrpSpPr>
          <p:cNvPr id="6" name="Group 6"/>
          <p:cNvGrpSpPr/>
          <p:nvPr/>
        </p:nvGrpSpPr>
        <p:grpSpPr>
          <a:xfrm>
            <a:off x="45723" y="9692353"/>
            <a:ext cx="18242277" cy="594647"/>
            <a:chOff x="0" y="0"/>
            <a:chExt cx="24323036" cy="792863"/>
          </a:xfrm>
        </p:grpSpPr>
        <p:sp>
          <p:nvSpPr>
            <p:cNvPr id="7" name="Freeform 7"/>
            <p:cNvSpPr/>
            <p:nvPr/>
          </p:nvSpPr>
          <p:spPr>
            <a:xfrm>
              <a:off x="0" y="0"/>
              <a:ext cx="24323039" cy="792861"/>
            </a:xfrm>
            <a:custGeom>
              <a:avLst/>
              <a:gdLst/>
              <a:ahLst/>
              <a:cxnLst/>
              <a:rect l="l" t="t" r="r" b="b"/>
              <a:pathLst>
                <a:path w="24323039" h="792861">
                  <a:moveTo>
                    <a:pt x="0" y="0"/>
                  </a:moveTo>
                  <a:lnTo>
                    <a:pt x="24323039" y="0"/>
                  </a:lnTo>
                  <a:lnTo>
                    <a:pt x="24323039" y="792861"/>
                  </a:lnTo>
                  <a:lnTo>
                    <a:pt x="0" y="792861"/>
                  </a:lnTo>
                  <a:lnTo>
                    <a:pt x="0" y="0"/>
                  </a:lnTo>
                  <a:close/>
                </a:path>
              </a:pathLst>
            </a:custGeom>
            <a:blipFill>
              <a:blip r:embed="rId4"/>
              <a:stretch>
                <a:fillRect t="-16723" b="-16723"/>
              </a:stretch>
            </a:blipFill>
          </p:spPr>
        </p:sp>
      </p:grpSp>
      <p:grpSp>
        <p:nvGrpSpPr>
          <p:cNvPr id="8" name="Group 8"/>
          <p:cNvGrpSpPr/>
          <p:nvPr/>
        </p:nvGrpSpPr>
        <p:grpSpPr>
          <a:xfrm>
            <a:off x="16666900" y="9794298"/>
            <a:ext cx="1621100" cy="333608"/>
            <a:chOff x="0" y="0"/>
            <a:chExt cx="2161467" cy="444811"/>
          </a:xfrm>
        </p:grpSpPr>
        <p:sp>
          <p:nvSpPr>
            <p:cNvPr id="9" name="Freeform 9"/>
            <p:cNvSpPr/>
            <p:nvPr/>
          </p:nvSpPr>
          <p:spPr>
            <a:xfrm>
              <a:off x="0" y="0"/>
              <a:ext cx="2161467" cy="444811"/>
            </a:xfrm>
            <a:custGeom>
              <a:avLst/>
              <a:gdLst/>
              <a:ahLst/>
              <a:cxnLst/>
              <a:rect l="l" t="t" r="r" b="b"/>
              <a:pathLst>
                <a:path w="2161467" h="444811">
                  <a:moveTo>
                    <a:pt x="0" y="0"/>
                  </a:moveTo>
                  <a:lnTo>
                    <a:pt x="2161467" y="0"/>
                  </a:lnTo>
                  <a:lnTo>
                    <a:pt x="2161467" y="444811"/>
                  </a:lnTo>
                  <a:lnTo>
                    <a:pt x="0" y="444811"/>
                  </a:lnTo>
                  <a:close/>
                </a:path>
              </a:pathLst>
            </a:custGeom>
            <a:solidFill>
              <a:srgbClr val="000000">
                <a:alpha val="0"/>
              </a:srgbClr>
            </a:solidFill>
          </p:spPr>
        </p:sp>
        <p:sp>
          <p:nvSpPr>
            <p:cNvPr id="10" name="TextBox 10"/>
            <p:cNvSpPr txBox="1"/>
            <p:nvPr/>
          </p:nvSpPr>
          <p:spPr>
            <a:xfrm>
              <a:off x="0" y="-57150"/>
              <a:ext cx="2161467" cy="501961"/>
            </a:xfrm>
            <a:prstGeom prst="rect">
              <a:avLst/>
            </a:prstGeom>
          </p:spPr>
          <p:txBody>
            <a:bodyPr lIns="0" tIns="0" rIns="0" bIns="0" rtlCol="0" anchor="t"/>
            <a:lstStyle/>
            <a:p>
              <a:pPr algn="l">
                <a:lnSpc>
                  <a:spcPts val="2611"/>
                </a:lnSpc>
              </a:pPr>
              <a:r>
                <a:rPr lang="en-US" sz="1864" b="1">
                  <a:solidFill>
                    <a:srgbClr val="F4E9EC"/>
                  </a:solidFill>
                  <a:latin typeface="Poppins Bold"/>
                  <a:ea typeface="Poppins Bold"/>
                  <a:cs typeface="Poppins Bold"/>
                  <a:sym typeface="Poppins Bold"/>
                </a:rPr>
                <a:t>Page 06</a:t>
              </a:r>
            </a:p>
          </p:txBody>
        </p:sp>
      </p:grpSp>
      <p:grpSp>
        <p:nvGrpSpPr>
          <p:cNvPr id="11" name="Group 11"/>
          <p:cNvGrpSpPr/>
          <p:nvPr/>
        </p:nvGrpSpPr>
        <p:grpSpPr>
          <a:xfrm>
            <a:off x="3482112" y="455527"/>
            <a:ext cx="11323776" cy="1039155"/>
            <a:chOff x="0" y="0"/>
            <a:chExt cx="15098368" cy="1385540"/>
          </a:xfrm>
        </p:grpSpPr>
        <p:sp>
          <p:nvSpPr>
            <p:cNvPr id="12" name="Freeform 12"/>
            <p:cNvSpPr/>
            <p:nvPr/>
          </p:nvSpPr>
          <p:spPr>
            <a:xfrm>
              <a:off x="0" y="0"/>
              <a:ext cx="15098368" cy="1385540"/>
            </a:xfrm>
            <a:custGeom>
              <a:avLst/>
              <a:gdLst/>
              <a:ahLst/>
              <a:cxnLst/>
              <a:rect l="l" t="t" r="r" b="b"/>
              <a:pathLst>
                <a:path w="15098368" h="1385540">
                  <a:moveTo>
                    <a:pt x="0" y="0"/>
                  </a:moveTo>
                  <a:lnTo>
                    <a:pt x="15098368" y="0"/>
                  </a:lnTo>
                  <a:lnTo>
                    <a:pt x="15098368" y="1385540"/>
                  </a:lnTo>
                  <a:lnTo>
                    <a:pt x="0" y="1385540"/>
                  </a:lnTo>
                  <a:close/>
                </a:path>
              </a:pathLst>
            </a:custGeom>
            <a:solidFill>
              <a:srgbClr val="000000">
                <a:alpha val="0"/>
              </a:srgbClr>
            </a:solidFill>
          </p:spPr>
        </p:sp>
        <p:sp>
          <p:nvSpPr>
            <p:cNvPr id="13" name="TextBox 13"/>
            <p:cNvSpPr txBox="1"/>
            <p:nvPr/>
          </p:nvSpPr>
          <p:spPr>
            <a:xfrm>
              <a:off x="0" y="-219075"/>
              <a:ext cx="15098368" cy="1604615"/>
            </a:xfrm>
            <a:prstGeom prst="rect">
              <a:avLst/>
            </a:prstGeom>
          </p:spPr>
          <p:txBody>
            <a:bodyPr lIns="0" tIns="0" rIns="0" bIns="0" rtlCol="0" anchor="t"/>
            <a:lstStyle/>
            <a:p>
              <a:pPr algn="ctr">
                <a:lnSpc>
                  <a:spcPts val="7614"/>
                </a:lnSpc>
              </a:pPr>
              <a:r>
                <a:rPr lang="en-US" sz="5438" b="1">
                  <a:solidFill>
                    <a:srgbClr val="000000"/>
                  </a:solidFill>
                  <a:latin typeface="Times New Roman Bold"/>
                  <a:ea typeface="Times New Roman Bold"/>
                  <a:cs typeface="Times New Roman Bold"/>
                  <a:sym typeface="Times New Roman Bold"/>
                </a:rPr>
                <a:t>RESEARCH AND REFERENCES</a:t>
              </a:r>
            </a:p>
          </p:txBody>
        </p:sp>
      </p:grpSp>
      <p:grpSp>
        <p:nvGrpSpPr>
          <p:cNvPr id="14" name="Group 14"/>
          <p:cNvGrpSpPr/>
          <p:nvPr/>
        </p:nvGrpSpPr>
        <p:grpSpPr>
          <a:xfrm>
            <a:off x="3795994" y="9794298"/>
            <a:ext cx="10378643" cy="333608"/>
            <a:chOff x="0" y="0"/>
            <a:chExt cx="13838191" cy="444811"/>
          </a:xfrm>
        </p:grpSpPr>
        <p:sp>
          <p:nvSpPr>
            <p:cNvPr id="15" name="Freeform 15"/>
            <p:cNvSpPr/>
            <p:nvPr/>
          </p:nvSpPr>
          <p:spPr>
            <a:xfrm>
              <a:off x="0" y="0"/>
              <a:ext cx="13838191" cy="444811"/>
            </a:xfrm>
            <a:custGeom>
              <a:avLst/>
              <a:gdLst/>
              <a:ahLst/>
              <a:cxnLst/>
              <a:rect l="l" t="t" r="r" b="b"/>
              <a:pathLst>
                <a:path w="13838191" h="444811">
                  <a:moveTo>
                    <a:pt x="0" y="0"/>
                  </a:moveTo>
                  <a:lnTo>
                    <a:pt x="13838191" y="0"/>
                  </a:lnTo>
                  <a:lnTo>
                    <a:pt x="13838191" y="444811"/>
                  </a:lnTo>
                  <a:lnTo>
                    <a:pt x="0" y="444811"/>
                  </a:lnTo>
                  <a:close/>
                </a:path>
              </a:pathLst>
            </a:custGeom>
            <a:solidFill>
              <a:srgbClr val="000000">
                <a:alpha val="0"/>
              </a:srgbClr>
            </a:solidFill>
          </p:spPr>
        </p:sp>
        <p:sp>
          <p:nvSpPr>
            <p:cNvPr id="16" name="TextBox 16"/>
            <p:cNvSpPr txBox="1"/>
            <p:nvPr/>
          </p:nvSpPr>
          <p:spPr>
            <a:xfrm>
              <a:off x="0" y="-57150"/>
              <a:ext cx="13838191" cy="501961"/>
            </a:xfrm>
            <a:prstGeom prst="rect">
              <a:avLst/>
            </a:prstGeom>
          </p:spPr>
          <p:txBody>
            <a:bodyPr lIns="0" tIns="0" rIns="0" bIns="0" rtlCol="0" anchor="t"/>
            <a:lstStyle/>
            <a:p>
              <a:pPr algn="ctr">
                <a:lnSpc>
                  <a:spcPts val="2611"/>
                </a:lnSpc>
              </a:pPr>
              <a:r>
                <a:rPr lang="en-US" sz="1864" b="1">
                  <a:solidFill>
                    <a:srgbClr val="F4E9EC"/>
                  </a:solidFill>
                  <a:latin typeface="Poppins Bold"/>
                  <a:ea typeface="Poppins Bold"/>
                  <a:cs typeface="Poppins Bold"/>
                  <a:sym typeface="Poppins Bold"/>
                </a:rPr>
                <a:t>Sri Indu College of Engg &amp; Tech - Cyber Club, Department of Cyber Security</a:t>
              </a:r>
            </a:p>
          </p:txBody>
        </p:sp>
      </p:grpSp>
      <p:grpSp>
        <p:nvGrpSpPr>
          <p:cNvPr id="17" name="Group 17"/>
          <p:cNvGrpSpPr/>
          <p:nvPr/>
        </p:nvGrpSpPr>
        <p:grpSpPr>
          <a:xfrm>
            <a:off x="793674" y="4504136"/>
            <a:ext cx="16275126" cy="1845826"/>
            <a:chOff x="0" y="0"/>
            <a:chExt cx="21700168" cy="2461101"/>
          </a:xfrm>
        </p:grpSpPr>
        <p:sp>
          <p:nvSpPr>
            <p:cNvPr id="18" name="Freeform 18"/>
            <p:cNvSpPr/>
            <p:nvPr/>
          </p:nvSpPr>
          <p:spPr>
            <a:xfrm>
              <a:off x="0" y="0"/>
              <a:ext cx="21700168" cy="2461101"/>
            </a:xfrm>
            <a:custGeom>
              <a:avLst/>
              <a:gdLst/>
              <a:ahLst/>
              <a:cxnLst/>
              <a:rect l="l" t="t" r="r" b="b"/>
              <a:pathLst>
                <a:path w="21700168" h="2461101">
                  <a:moveTo>
                    <a:pt x="0" y="0"/>
                  </a:moveTo>
                  <a:lnTo>
                    <a:pt x="21700168" y="0"/>
                  </a:lnTo>
                  <a:lnTo>
                    <a:pt x="21700168" y="2461101"/>
                  </a:lnTo>
                  <a:lnTo>
                    <a:pt x="0" y="2461101"/>
                  </a:lnTo>
                  <a:close/>
                </a:path>
              </a:pathLst>
            </a:custGeom>
            <a:solidFill>
              <a:srgbClr val="000000">
                <a:alpha val="0"/>
              </a:srgbClr>
            </a:solidFill>
          </p:spPr>
        </p:sp>
        <p:sp>
          <p:nvSpPr>
            <p:cNvPr id="19" name="TextBox 19"/>
            <p:cNvSpPr txBox="1"/>
            <p:nvPr/>
          </p:nvSpPr>
          <p:spPr>
            <a:xfrm>
              <a:off x="0" y="-285750"/>
              <a:ext cx="21700168" cy="2746851"/>
            </a:xfrm>
            <a:prstGeom prst="rect">
              <a:avLst/>
            </a:prstGeom>
          </p:spPr>
          <p:txBody>
            <a:bodyPr lIns="0" tIns="0" rIns="0" bIns="0" rtlCol="0" anchor="t"/>
            <a:lstStyle/>
            <a:p>
              <a:pPr algn="l">
                <a:lnSpc>
                  <a:spcPts val="7605"/>
                </a:lnSpc>
              </a:pPr>
              <a:r>
                <a:rPr lang="en-US" sz="4665">
                  <a:solidFill>
                    <a:srgbClr val="000000"/>
                  </a:solidFill>
                  <a:latin typeface="Times New Roman"/>
                  <a:ea typeface="Times New Roman"/>
                  <a:cs typeface="Times New Roman"/>
                  <a:sym typeface="Times New Roman"/>
                </a:rPr>
                <a:t>•AI Resume Analyzer – </a:t>
              </a:r>
            </a:p>
            <a:p>
              <a:pPr algn="l">
                <a:lnSpc>
                  <a:spcPts val="7605"/>
                </a:lnSpc>
              </a:pPr>
              <a:r>
                <a:rPr lang="en-US" sz="4665">
                  <a:solidFill>
                    <a:srgbClr val="000000"/>
                  </a:solidFill>
                  <a:latin typeface="Times New Roman"/>
                  <a:ea typeface="Times New Roman"/>
                  <a:cs typeface="Times New Roman"/>
                  <a:sym typeface="Times New Roman"/>
                </a:rPr>
                <a:t>github.com/deepakpadhi986/AI-Resume-Analyzer </a:t>
              </a:r>
            </a:p>
          </p:txBody>
        </p:sp>
      </p:grpSp>
      <p:sp>
        <p:nvSpPr>
          <p:cNvPr id="20" name="Freeform 20"/>
          <p:cNvSpPr/>
          <p:nvPr/>
        </p:nvSpPr>
        <p:spPr>
          <a:xfrm>
            <a:off x="578499" y="674602"/>
            <a:ext cx="2393301" cy="1383480"/>
          </a:xfrm>
          <a:custGeom>
            <a:avLst/>
            <a:gdLst/>
            <a:ahLst/>
            <a:cxnLst/>
            <a:rect l="l" t="t" r="r" b="b"/>
            <a:pathLst>
              <a:path w="2393301" h="1383480">
                <a:moveTo>
                  <a:pt x="0" y="0"/>
                </a:moveTo>
                <a:lnTo>
                  <a:pt x="2393301" y="0"/>
                </a:lnTo>
                <a:lnTo>
                  <a:pt x="2393301" y="1383480"/>
                </a:lnTo>
                <a:lnTo>
                  <a:pt x="0" y="1383480"/>
                </a:lnTo>
                <a:lnTo>
                  <a:pt x="0" y="0"/>
                </a:lnTo>
                <a:close/>
              </a:path>
            </a:pathLst>
          </a:custGeom>
          <a:blipFill>
            <a:blip r:embed="rId5">
              <a:extLst>
                <a:ext uri="{96DAC541-7B7A-43D3-8B79-37D633B846F1}">
                  <asvg:svgBlip xmlns:asvg="http://schemas.microsoft.com/office/drawing/2016/SVG/main" r:embed="rId6"/>
                </a:ext>
              </a:extLst>
            </a:blip>
            <a:stretch>
              <a:fillRect t="-3888" b="-3888"/>
            </a:stretch>
          </a:blipFill>
        </p:spPr>
      </p:sp>
      <p:grpSp>
        <p:nvGrpSpPr>
          <p:cNvPr id="21" name="Group 21"/>
          <p:cNvGrpSpPr/>
          <p:nvPr/>
        </p:nvGrpSpPr>
        <p:grpSpPr>
          <a:xfrm>
            <a:off x="793672" y="952500"/>
            <a:ext cx="1949527" cy="664028"/>
            <a:chOff x="0" y="0"/>
            <a:chExt cx="2599369" cy="885371"/>
          </a:xfrm>
        </p:grpSpPr>
        <p:sp>
          <p:nvSpPr>
            <p:cNvPr id="22" name="Freeform 22"/>
            <p:cNvSpPr/>
            <p:nvPr/>
          </p:nvSpPr>
          <p:spPr>
            <a:xfrm>
              <a:off x="0" y="0"/>
              <a:ext cx="2599369" cy="885371"/>
            </a:xfrm>
            <a:custGeom>
              <a:avLst/>
              <a:gdLst/>
              <a:ahLst/>
              <a:cxnLst/>
              <a:rect l="l" t="t" r="r" b="b"/>
              <a:pathLst>
                <a:path w="2599369" h="885371">
                  <a:moveTo>
                    <a:pt x="0" y="0"/>
                  </a:moveTo>
                  <a:lnTo>
                    <a:pt x="2599369" y="0"/>
                  </a:lnTo>
                  <a:lnTo>
                    <a:pt x="2599369" y="885371"/>
                  </a:lnTo>
                  <a:lnTo>
                    <a:pt x="0" y="885371"/>
                  </a:lnTo>
                  <a:close/>
                </a:path>
              </a:pathLst>
            </a:custGeom>
            <a:solidFill>
              <a:srgbClr val="000000">
                <a:alpha val="0"/>
              </a:srgbClr>
            </a:solidFill>
          </p:spPr>
        </p:sp>
        <p:sp>
          <p:nvSpPr>
            <p:cNvPr id="23" name="TextBox 23"/>
            <p:cNvSpPr txBox="1"/>
            <p:nvPr/>
          </p:nvSpPr>
          <p:spPr>
            <a:xfrm>
              <a:off x="0" y="-85725"/>
              <a:ext cx="2599369" cy="971096"/>
            </a:xfrm>
            <a:prstGeom prst="rect">
              <a:avLst/>
            </a:prstGeom>
          </p:spPr>
          <p:txBody>
            <a:bodyPr lIns="0" tIns="0" rIns="0" bIns="0" rtlCol="0" anchor="t"/>
            <a:lstStyle/>
            <a:p>
              <a:pPr algn="ctr">
                <a:lnSpc>
                  <a:spcPts val="2706"/>
                </a:lnSpc>
              </a:pPr>
              <a:r>
                <a:rPr lang="en-US" sz="1932" b="1">
                  <a:solidFill>
                    <a:srgbClr val="000000"/>
                  </a:solidFill>
                  <a:latin typeface="Times New Roman Bold"/>
                  <a:ea typeface="Times New Roman Bold"/>
                  <a:cs typeface="Times New Roman Bold"/>
                  <a:sym typeface="Times New Roman Bold"/>
                </a:rPr>
                <a:t>TEAM </a:t>
              </a:r>
            </a:p>
            <a:p>
              <a:pPr algn="ctr">
                <a:lnSpc>
                  <a:spcPts val="2706"/>
                </a:lnSpc>
              </a:pPr>
              <a:r>
                <a:rPr lang="en-US" sz="1932" b="1">
                  <a:solidFill>
                    <a:srgbClr val="000000"/>
                  </a:solidFill>
                  <a:latin typeface="Times New Roman Bold"/>
                  <a:ea typeface="Times New Roman Bold"/>
                  <a:cs typeface="Times New Roman Bold"/>
                  <a:sym typeface="Times New Roman Bold"/>
                </a:rPr>
                <a:t>SHOURYANGAS</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38888" b="-38888"/>
              </a:stretch>
            </a:blipFill>
          </p:spPr>
        </p:sp>
      </p:grpSp>
      <p:grpSp>
        <p:nvGrpSpPr>
          <p:cNvPr id="4" name="Group 4"/>
          <p:cNvGrpSpPr/>
          <p:nvPr/>
        </p:nvGrpSpPr>
        <p:grpSpPr>
          <a:xfrm>
            <a:off x="15910982" y="463512"/>
            <a:ext cx="2113659" cy="1009272"/>
            <a:chOff x="0" y="0"/>
            <a:chExt cx="2818212" cy="1345696"/>
          </a:xfrm>
        </p:grpSpPr>
        <p:sp>
          <p:nvSpPr>
            <p:cNvPr id="5" name="Freeform 5"/>
            <p:cNvSpPr/>
            <p:nvPr/>
          </p:nvSpPr>
          <p:spPr>
            <a:xfrm>
              <a:off x="0" y="0"/>
              <a:ext cx="2818257" cy="1345692"/>
            </a:xfrm>
            <a:custGeom>
              <a:avLst/>
              <a:gdLst/>
              <a:ahLst/>
              <a:cxnLst/>
              <a:rect l="l" t="t" r="r" b="b"/>
              <a:pathLst>
                <a:path w="2818257" h="1345692">
                  <a:moveTo>
                    <a:pt x="0" y="0"/>
                  </a:moveTo>
                  <a:lnTo>
                    <a:pt x="2818257" y="0"/>
                  </a:lnTo>
                  <a:lnTo>
                    <a:pt x="2818257" y="1345692"/>
                  </a:lnTo>
                  <a:lnTo>
                    <a:pt x="0" y="1345692"/>
                  </a:lnTo>
                  <a:lnTo>
                    <a:pt x="0" y="0"/>
                  </a:lnTo>
                  <a:close/>
                </a:path>
              </a:pathLst>
            </a:custGeom>
            <a:blipFill>
              <a:blip r:embed="rId3"/>
              <a:stretch>
                <a:fillRect t="-112" r="1" b="-112"/>
              </a:stretch>
            </a:blipFill>
          </p:spPr>
        </p:sp>
      </p:grpSp>
      <p:grpSp>
        <p:nvGrpSpPr>
          <p:cNvPr id="6" name="Group 6"/>
          <p:cNvGrpSpPr/>
          <p:nvPr/>
        </p:nvGrpSpPr>
        <p:grpSpPr>
          <a:xfrm>
            <a:off x="45723" y="9692353"/>
            <a:ext cx="18242277" cy="594647"/>
            <a:chOff x="0" y="0"/>
            <a:chExt cx="24323036" cy="792863"/>
          </a:xfrm>
        </p:grpSpPr>
        <p:sp>
          <p:nvSpPr>
            <p:cNvPr id="7" name="Freeform 7"/>
            <p:cNvSpPr/>
            <p:nvPr/>
          </p:nvSpPr>
          <p:spPr>
            <a:xfrm>
              <a:off x="0" y="0"/>
              <a:ext cx="24323039" cy="792861"/>
            </a:xfrm>
            <a:custGeom>
              <a:avLst/>
              <a:gdLst/>
              <a:ahLst/>
              <a:cxnLst/>
              <a:rect l="l" t="t" r="r" b="b"/>
              <a:pathLst>
                <a:path w="24323039" h="792861">
                  <a:moveTo>
                    <a:pt x="0" y="0"/>
                  </a:moveTo>
                  <a:lnTo>
                    <a:pt x="24323039" y="0"/>
                  </a:lnTo>
                  <a:lnTo>
                    <a:pt x="24323039" y="792861"/>
                  </a:lnTo>
                  <a:lnTo>
                    <a:pt x="0" y="792861"/>
                  </a:lnTo>
                  <a:lnTo>
                    <a:pt x="0" y="0"/>
                  </a:lnTo>
                  <a:close/>
                </a:path>
              </a:pathLst>
            </a:custGeom>
            <a:blipFill>
              <a:blip r:embed="rId4"/>
              <a:stretch>
                <a:fillRect t="-16723" b="-16723"/>
              </a:stretch>
            </a:blipFill>
          </p:spPr>
        </p:sp>
      </p:grpSp>
      <p:grpSp>
        <p:nvGrpSpPr>
          <p:cNvPr id="8" name="Group 8"/>
          <p:cNvGrpSpPr/>
          <p:nvPr/>
        </p:nvGrpSpPr>
        <p:grpSpPr>
          <a:xfrm>
            <a:off x="16666900" y="9794298"/>
            <a:ext cx="1621100" cy="333608"/>
            <a:chOff x="0" y="0"/>
            <a:chExt cx="2161467" cy="444811"/>
          </a:xfrm>
        </p:grpSpPr>
        <p:sp>
          <p:nvSpPr>
            <p:cNvPr id="9" name="Freeform 9"/>
            <p:cNvSpPr/>
            <p:nvPr/>
          </p:nvSpPr>
          <p:spPr>
            <a:xfrm>
              <a:off x="0" y="0"/>
              <a:ext cx="2161467" cy="444811"/>
            </a:xfrm>
            <a:custGeom>
              <a:avLst/>
              <a:gdLst/>
              <a:ahLst/>
              <a:cxnLst/>
              <a:rect l="l" t="t" r="r" b="b"/>
              <a:pathLst>
                <a:path w="2161467" h="444811">
                  <a:moveTo>
                    <a:pt x="0" y="0"/>
                  </a:moveTo>
                  <a:lnTo>
                    <a:pt x="2161467" y="0"/>
                  </a:lnTo>
                  <a:lnTo>
                    <a:pt x="2161467" y="444811"/>
                  </a:lnTo>
                  <a:lnTo>
                    <a:pt x="0" y="444811"/>
                  </a:lnTo>
                  <a:close/>
                </a:path>
              </a:pathLst>
            </a:custGeom>
            <a:solidFill>
              <a:srgbClr val="000000">
                <a:alpha val="0"/>
              </a:srgbClr>
            </a:solidFill>
          </p:spPr>
        </p:sp>
        <p:sp>
          <p:nvSpPr>
            <p:cNvPr id="10" name="TextBox 10"/>
            <p:cNvSpPr txBox="1"/>
            <p:nvPr/>
          </p:nvSpPr>
          <p:spPr>
            <a:xfrm>
              <a:off x="0" y="-57150"/>
              <a:ext cx="2161467" cy="501961"/>
            </a:xfrm>
            <a:prstGeom prst="rect">
              <a:avLst/>
            </a:prstGeom>
          </p:spPr>
          <p:txBody>
            <a:bodyPr lIns="0" tIns="0" rIns="0" bIns="0" rtlCol="0" anchor="t"/>
            <a:lstStyle/>
            <a:p>
              <a:pPr algn="l">
                <a:lnSpc>
                  <a:spcPts val="2611"/>
                </a:lnSpc>
              </a:pPr>
              <a:r>
                <a:rPr lang="en-US" sz="1864" b="1">
                  <a:solidFill>
                    <a:srgbClr val="F4E9EC"/>
                  </a:solidFill>
                  <a:latin typeface="Poppins Bold"/>
                  <a:ea typeface="Poppins Bold"/>
                  <a:cs typeface="Poppins Bold"/>
                  <a:sym typeface="Poppins Bold"/>
                </a:rPr>
                <a:t>Page 07</a:t>
              </a:r>
            </a:p>
          </p:txBody>
        </p:sp>
      </p:grpSp>
      <p:grpSp>
        <p:nvGrpSpPr>
          <p:cNvPr id="11" name="Group 11"/>
          <p:cNvGrpSpPr/>
          <p:nvPr/>
        </p:nvGrpSpPr>
        <p:grpSpPr>
          <a:xfrm>
            <a:off x="4383474" y="841771"/>
            <a:ext cx="9937554" cy="1042951"/>
            <a:chOff x="0" y="0"/>
            <a:chExt cx="13250072" cy="1390601"/>
          </a:xfrm>
        </p:grpSpPr>
        <p:sp>
          <p:nvSpPr>
            <p:cNvPr id="12" name="Freeform 12"/>
            <p:cNvSpPr/>
            <p:nvPr/>
          </p:nvSpPr>
          <p:spPr>
            <a:xfrm>
              <a:off x="0" y="0"/>
              <a:ext cx="13250072" cy="1390601"/>
            </a:xfrm>
            <a:custGeom>
              <a:avLst/>
              <a:gdLst/>
              <a:ahLst/>
              <a:cxnLst/>
              <a:rect l="l" t="t" r="r" b="b"/>
              <a:pathLst>
                <a:path w="13250072" h="1390601">
                  <a:moveTo>
                    <a:pt x="0" y="0"/>
                  </a:moveTo>
                  <a:lnTo>
                    <a:pt x="13250072" y="0"/>
                  </a:lnTo>
                  <a:lnTo>
                    <a:pt x="13250072" y="1390601"/>
                  </a:lnTo>
                  <a:lnTo>
                    <a:pt x="0" y="1390601"/>
                  </a:lnTo>
                  <a:close/>
                </a:path>
              </a:pathLst>
            </a:custGeom>
            <a:solidFill>
              <a:srgbClr val="000000">
                <a:alpha val="0"/>
              </a:srgbClr>
            </a:solidFill>
          </p:spPr>
        </p:sp>
        <p:sp>
          <p:nvSpPr>
            <p:cNvPr id="13" name="TextBox 13"/>
            <p:cNvSpPr txBox="1"/>
            <p:nvPr/>
          </p:nvSpPr>
          <p:spPr>
            <a:xfrm>
              <a:off x="0" y="-219075"/>
              <a:ext cx="13250072" cy="1609676"/>
            </a:xfrm>
            <a:prstGeom prst="rect">
              <a:avLst/>
            </a:prstGeom>
          </p:spPr>
          <p:txBody>
            <a:bodyPr lIns="0" tIns="0" rIns="0" bIns="0" rtlCol="0" anchor="t"/>
            <a:lstStyle/>
            <a:p>
              <a:pPr algn="ctr">
                <a:lnSpc>
                  <a:spcPts val="7614"/>
                </a:lnSpc>
              </a:pPr>
              <a:r>
                <a:rPr lang="en-US" sz="5438" b="1">
                  <a:solidFill>
                    <a:srgbClr val="000000"/>
                  </a:solidFill>
                  <a:latin typeface="Times New Roman Bold"/>
                  <a:ea typeface="Times New Roman Bold"/>
                  <a:cs typeface="Times New Roman Bold"/>
                  <a:sym typeface="Times New Roman Bold"/>
                </a:rPr>
                <a:t>FUTURE ENHANCEMENTS</a:t>
              </a:r>
            </a:p>
          </p:txBody>
        </p:sp>
      </p:grpSp>
      <p:grpSp>
        <p:nvGrpSpPr>
          <p:cNvPr id="14" name="Group 14"/>
          <p:cNvGrpSpPr/>
          <p:nvPr/>
        </p:nvGrpSpPr>
        <p:grpSpPr>
          <a:xfrm>
            <a:off x="3596330" y="9794298"/>
            <a:ext cx="10206967" cy="333608"/>
            <a:chOff x="0" y="0"/>
            <a:chExt cx="13609289" cy="444811"/>
          </a:xfrm>
        </p:grpSpPr>
        <p:sp>
          <p:nvSpPr>
            <p:cNvPr id="15" name="Freeform 15"/>
            <p:cNvSpPr/>
            <p:nvPr/>
          </p:nvSpPr>
          <p:spPr>
            <a:xfrm>
              <a:off x="0" y="0"/>
              <a:ext cx="13609289" cy="444811"/>
            </a:xfrm>
            <a:custGeom>
              <a:avLst/>
              <a:gdLst/>
              <a:ahLst/>
              <a:cxnLst/>
              <a:rect l="l" t="t" r="r" b="b"/>
              <a:pathLst>
                <a:path w="13609289" h="444811">
                  <a:moveTo>
                    <a:pt x="0" y="0"/>
                  </a:moveTo>
                  <a:lnTo>
                    <a:pt x="13609289" y="0"/>
                  </a:lnTo>
                  <a:lnTo>
                    <a:pt x="13609289" y="444811"/>
                  </a:lnTo>
                  <a:lnTo>
                    <a:pt x="0" y="444811"/>
                  </a:lnTo>
                  <a:close/>
                </a:path>
              </a:pathLst>
            </a:custGeom>
            <a:solidFill>
              <a:srgbClr val="000000">
                <a:alpha val="0"/>
              </a:srgbClr>
            </a:solidFill>
          </p:spPr>
        </p:sp>
        <p:sp>
          <p:nvSpPr>
            <p:cNvPr id="16" name="TextBox 16"/>
            <p:cNvSpPr txBox="1"/>
            <p:nvPr/>
          </p:nvSpPr>
          <p:spPr>
            <a:xfrm>
              <a:off x="0" y="-57150"/>
              <a:ext cx="13609289" cy="501961"/>
            </a:xfrm>
            <a:prstGeom prst="rect">
              <a:avLst/>
            </a:prstGeom>
          </p:spPr>
          <p:txBody>
            <a:bodyPr lIns="0" tIns="0" rIns="0" bIns="0" rtlCol="0" anchor="t"/>
            <a:lstStyle/>
            <a:p>
              <a:pPr algn="ctr">
                <a:lnSpc>
                  <a:spcPts val="2611"/>
                </a:lnSpc>
              </a:pPr>
              <a:r>
                <a:rPr lang="en-US" sz="1864" b="1">
                  <a:solidFill>
                    <a:srgbClr val="F4E9EC"/>
                  </a:solidFill>
                  <a:latin typeface="Poppins Bold"/>
                  <a:ea typeface="Poppins Bold"/>
                  <a:cs typeface="Poppins Bold"/>
                  <a:sym typeface="Poppins Bold"/>
                </a:rPr>
                <a:t>Sri Indu College of Engg &amp; Tech - Cyber Club, Department of Cyber Security</a:t>
              </a:r>
            </a:p>
          </p:txBody>
        </p:sp>
      </p:grpSp>
      <p:grpSp>
        <p:nvGrpSpPr>
          <p:cNvPr id="17" name="Group 17"/>
          <p:cNvGrpSpPr/>
          <p:nvPr/>
        </p:nvGrpSpPr>
        <p:grpSpPr>
          <a:xfrm>
            <a:off x="826461" y="3354022"/>
            <a:ext cx="16680801" cy="4837478"/>
            <a:chOff x="0" y="0"/>
            <a:chExt cx="22241068" cy="6449971"/>
          </a:xfrm>
        </p:grpSpPr>
        <p:sp>
          <p:nvSpPr>
            <p:cNvPr id="18" name="Freeform 18"/>
            <p:cNvSpPr/>
            <p:nvPr/>
          </p:nvSpPr>
          <p:spPr>
            <a:xfrm>
              <a:off x="0" y="0"/>
              <a:ext cx="22241069" cy="6449971"/>
            </a:xfrm>
            <a:custGeom>
              <a:avLst/>
              <a:gdLst/>
              <a:ahLst/>
              <a:cxnLst/>
              <a:rect l="l" t="t" r="r" b="b"/>
              <a:pathLst>
                <a:path w="22241069" h="6449971">
                  <a:moveTo>
                    <a:pt x="0" y="0"/>
                  </a:moveTo>
                  <a:lnTo>
                    <a:pt x="22241069" y="0"/>
                  </a:lnTo>
                  <a:lnTo>
                    <a:pt x="22241069" y="6449971"/>
                  </a:lnTo>
                  <a:lnTo>
                    <a:pt x="0" y="6449971"/>
                  </a:lnTo>
                  <a:close/>
                </a:path>
              </a:pathLst>
            </a:custGeom>
            <a:solidFill>
              <a:srgbClr val="000000">
                <a:alpha val="0"/>
              </a:srgbClr>
            </a:solidFill>
          </p:spPr>
        </p:sp>
        <p:sp>
          <p:nvSpPr>
            <p:cNvPr id="19" name="TextBox 19"/>
            <p:cNvSpPr txBox="1"/>
            <p:nvPr/>
          </p:nvSpPr>
          <p:spPr>
            <a:xfrm>
              <a:off x="0" y="-247650"/>
              <a:ext cx="22241068" cy="6697621"/>
            </a:xfrm>
            <a:prstGeom prst="rect">
              <a:avLst/>
            </a:prstGeom>
          </p:spPr>
          <p:txBody>
            <a:bodyPr lIns="0" tIns="0" rIns="0" bIns="0" rtlCol="0" anchor="t"/>
            <a:lstStyle/>
            <a:p>
              <a:pPr algn="l">
                <a:lnSpc>
                  <a:spcPts val="6413"/>
                </a:lnSpc>
              </a:pPr>
              <a:r>
                <a:rPr lang="en-US" sz="3900">
                  <a:solidFill>
                    <a:srgbClr val="000000"/>
                  </a:solidFill>
                  <a:latin typeface="Times New Roman"/>
                  <a:ea typeface="Times New Roman"/>
                  <a:cs typeface="Times New Roman"/>
                  <a:sym typeface="Times New Roman"/>
                </a:rPr>
                <a:t>If more time were available, we would enhance the system by adding a detailed matching score with breakdowns (skills, experience, etc.), adaptive learning from recruiter feedback, and resume rewrite suggestions. We’d also build a visual dashboard for recruiters, support multiple languages, and integrate real-time job market trends. Additionally, we would ensure privacy and bias mitigation for ethical evaluation.</a:t>
              </a:r>
            </a:p>
          </p:txBody>
        </p:sp>
      </p:grpSp>
      <p:sp>
        <p:nvSpPr>
          <p:cNvPr id="20" name="Freeform 20"/>
          <p:cNvSpPr/>
          <p:nvPr/>
        </p:nvSpPr>
        <p:spPr>
          <a:xfrm>
            <a:off x="578499" y="674602"/>
            <a:ext cx="2393301" cy="1383480"/>
          </a:xfrm>
          <a:custGeom>
            <a:avLst/>
            <a:gdLst/>
            <a:ahLst/>
            <a:cxnLst/>
            <a:rect l="l" t="t" r="r" b="b"/>
            <a:pathLst>
              <a:path w="2393301" h="1383480">
                <a:moveTo>
                  <a:pt x="0" y="0"/>
                </a:moveTo>
                <a:lnTo>
                  <a:pt x="2393301" y="0"/>
                </a:lnTo>
                <a:lnTo>
                  <a:pt x="2393301" y="1383480"/>
                </a:lnTo>
                <a:lnTo>
                  <a:pt x="0" y="1383480"/>
                </a:lnTo>
                <a:lnTo>
                  <a:pt x="0" y="0"/>
                </a:lnTo>
                <a:close/>
              </a:path>
            </a:pathLst>
          </a:custGeom>
          <a:blipFill>
            <a:blip r:embed="rId5">
              <a:extLst>
                <a:ext uri="{96DAC541-7B7A-43D3-8B79-37D633B846F1}">
                  <asvg:svgBlip xmlns:asvg="http://schemas.microsoft.com/office/drawing/2016/SVG/main" r:embed="rId6"/>
                </a:ext>
              </a:extLst>
            </a:blip>
            <a:stretch>
              <a:fillRect t="-3888" b="-3888"/>
            </a:stretch>
          </a:blipFill>
        </p:spPr>
      </p:sp>
      <p:grpSp>
        <p:nvGrpSpPr>
          <p:cNvPr id="21" name="Group 21"/>
          <p:cNvGrpSpPr/>
          <p:nvPr/>
        </p:nvGrpSpPr>
        <p:grpSpPr>
          <a:xfrm>
            <a:off x="793672" y="952500"/>
            <a:ext cx="1949527" cy="664028"/>
            <a:chOff x="0" y="0"/>
            <a:chExt cx="2599369" cy="885371"/>
          </a:xfrm>
        </p:grpSpPr>
        <p:sp>
          <p:nvSpPr>
            <p:cNvPr id="22" name="Freeform 22"/>
            <p:cNvSpPr/>
            <p:nvPr/>
          </p:nvSpPr>
          <p:spPr>
            <a:xfrm>
              <a:off x="0" y="0"/>
              <a:ext cx="2599369" cy="885371"/>
            </a:xfrm>
            <a:custGeom>
              <a:avLst/>
              <a:gdLst/>
              <a:ahLst/>
              <a:cxnLst/>
              <a:rect l="l" t="t" r="r" b="b"/>
              <a:pathLst>
                <a:path w="2599369" h="885371">
                  <a:moveTo>
                    <a:pt x="0" y="0"/>
                  </a:moveTo>
                  <a:lnTo>
                    <a:pt x="2599369" y="0"/>
                  </a:lnTo>
                  <a:lnTo>
                    <a:pt x="2599369" y="885371"/>
                  </a:lnTo>
                  <a:lnTo>
                    <a:pt x="0" y="885371"/>
                  </a:lnTo>
                  <a:close/>
                </a:path>
              </a:pathLst>
            </a:custGeom>
            <a:solidFill>
              <a:srgbClr val="000000">
                <a:alpha val="0"/>
              </a:srgbClr>
            </a:solidFill>
          </p:spPr>
        </p:sp>
        <p:sp>
          <p:nvSpPr>
            <p:cNvPr id="23" name="TextBox 23"/>
            <p:cNvSpPr txBox="1"/>
            <p:nvPr/>
          </p:nvSpPr>
          <p:spPr>
            <a:xfrm>
              <a:off x="0" y="-85725"/>
              <a:ext cx="2599369" cy="971096"/>
            </a:xfrm>
            <a:prstGeom prst="rect">
              <a:avLst/>
            </a:prstGeom>
          </p:spPr>
          <p:txBody>
            <a:bodyPr lIns="0" tIns="0" rIns="0" bIns="0" rtlCol="0" anchor="t"/>
            <a:lstStyle/>
            <a:p>
              <a:pPr algn="ctr">
                <a:lnSpc>
                  <a:spcPts val="2706"/>
                </a:lnSpc>
              </a:pPr>
              <a:r>
                <a:rPr lang="en-US" sz="1932" b="1">
                  <a:solidFill>
                    <a:srgbClr val="000000"/>
                  </a:solidFill>
                  <a:latin typeface="Times New Roman Bold"/>
                  <a:ea typeface="Times New Roman Bold"/>
                  <a:cs typeface="Times New Roman Bold"/>
                  <a:sym typeface="Times New Roman Bold"/>
                </a:rPr>
                <a:t>TEAM </a:t>
              </a:r>
            </a:p>
            <a:p>
              <a:pPr algn="ctr">
                <a:lnSpc>
                  <a:spcPts val="2706"/>
                </a:lnSpc>
              </a:pPr>
              <a:r>
                <a:rPr lang="en-US" sz="1932" b="1">
                  <a:solidFill>
                    <a:srgbClr val="000000"/>
                  </a:solidFill>
                  <a:latin typeface="Times New Roman Bold"/>
                  <a:ea typeface="Times New Roman Bold"/>
                  <a:cs typeface="Times New Roman Bold"/>
                  <a:sym typeface="Times New Roman Bold"/>
                </a:rPr>
                <a:t>SHOURYANGAS</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38888" b="-38888"/>
              </a:stretch>
            </a:blipFill>
          </p:spPr>
        </p:sp>
      </p:grpSp>
      <p:grpSp>
        <p:nvGrpSpPr>
          <p:cNvPr id="4" name="Group 4"/>
          <p:cNvGrpSpPr/>
          <p:nvPr/>
        </p:nvGrpSpPr>
        <p:grpSpPr>
          <a:xfrm>
            <a:off x="15910982" y="463512"/>
            <a:ext cx="2113659" cy="1009272"/>
            <a:chOff x="0" y="0"/>
            <a:chExt cx="2818212" cy="1345696"/>
          </a:xfrm>
        </p:grpSpPr>
        <p:sp>
          <p:nvSpPr>
            <p:cNvPr id="5" name="Freeform 5"/>
            <p:cNvSpPr/>
            <p:nvPr/>
          </p:nvSpPr>
          <p:spPr>
            <a:xfrm>
              <a:off x="0" y="0"/>
              <a:ext cx="2818257" cy="1345692"/>
            </a:xfrm>
            <a:custGeom>
              <a:avLst/>
              <a:gdLst/>
              <a:ahLst/>
              <a:cxnLst/>
              <a:rect l="l" t="t" r="r" b="b"/>
              <a:pathLst>
                <a:path w="2818257" h="1345692">
                  <a:moveTo>
                    <a:pt x="0" y="0"/>
                  </a:moveTo>
                  <a:lnTo>
                    <a:pt x="2818257" y="0"/>
                  </a:lnTo>
                  <a:lnTo>
                    <a:pt x="2818257" y="1345692"/>
                  </a:lnTo>
                  <a:lnTo>
                    <a:pt x="0" y="1345692"/>
                  </a:lnTo>
                  <a:lnTo>
                    <a:pt x="0" y="0"/>
                  </a:lnTo>
                  <a:close/>
                </a:path>
              </a:pathLst>
            </a:custGeom>
            <a:blipFill>
              <a:blip r:embed="rId3"/>
              <a:stretch>
                <a:fillRect t="-112" r="1" b="-112"/>
              </a:stretch>
            </a:blipFill>
          </p:spPr>
        </p:sp>
      </p:grpSp>
      <p:grpSp>
        <p:nvGrpSpPr>
          <p:cNvPr id="6" name="Group 6"/>
          <p:cNvGrpSpPr/>
          <p:nvPr/>
        </p:nvGrpSpPr>
        <p:grpSpPr>
          <a:xfrm>
            <a:off x="45723" y="9692353"/>
            <a:ext cx="18242277" cy="594647"/>
            <a:chOff x="0" y="0"/>
            <a:chExt cx="24323036" cy="792863"/>
          </a:xfrm>
        </p:grpSpPr>
        <p:sp>
          <p:nvSpPr>
            <p:cNvPr id="7" name="Freeform 7"/>
            <p:cNvSpPr/>
            <p:nvPr/>
          </p:nvSpPr>
          <p:spPr>
            <a:xfrm>
              <a:off x="0" y="0"/>
              <a:ext cx="24323039" cy="792861"/>
            </a:xfrm>
            <a:custGeom>
              <a:avLst/>
              <a:gdLst/>
              <a:ahLst/>
              <a:cxnLst/>
              <a:rect l="l" t="t" r="r" b="b"/>
              <a:pathLst>
                <a:path w="24323039" h="792861">
                  <a:moveTo>
                    <a:pt x="0" y="0"/>
                  </a:moveTo>
                  <a:lnTo>
                    <a:pt x="24323039" y="0"/>
                  </a:lnTo>
                  <a:lnTo>
                    <a:pt x="24323039" y="792861"/>
                  </a:lnTo>
                  <a:lnTo>
                    <a:pt x="0" y="792861"/>
                  </a:lnTo>
                  <a:lnTo>
                    <a:pt x="0" y="0"/>
                  </a:lnTo>
                  <a:close/>
                </a:path>
              </a:pathLst>
            </a:custGeom>
            <a:blipFill>
              <a:blip r:embed="rId4"/>
              <a:stretch>
                <a:fillRect t="-16723" b="-16723"/>
              </a:stretch>
            </a:blipFill>
          </p:spPr>
        </p:sp>
      </p:grpSp>
      <p:grpSp>
        <p:nvGrpSpPr>
          <p:cNvPr id="8" name="Group 8"/>
          <p:cNvGrpSpPr/>
          <p:nvPr/>
        </p:nvGrpSpPr>
        <p:grpSpPr>
          <a:xfrm>
            <a:off x="16666900" y="9794298"/>
            <a:ext cx="1621100" cy="333608"/>
            <a:chOff x="0" y="0"/>
            <a:chExt cx="2161467" cy="444811"/>
          </a:xfrm>
        </p:grpSpPr>
        <p:sp>
          <p:nvSpPr>
            <p:cNvPr id="9" name="Freeform 9"/>
            <p:cNvSpPr/>
            <p:nvPr/>
          </p:nvSpPr>
          <p:spPr>
            <a:xfrm>
              <a:off x="0" y="0"/>
              <a:ext cx="2161467" cy="444811"/>
            </a:xfrm>
            <a:custGeom>
              <a:avLst/>
              <a:gdLst/>
              <a:ahLst/>
              <a:cxnLst/>
              <a:rect l="l" t="t" r="r" b="b"/>
              <a:pathLst>
                <a:path w="2161467" h="444811">
                  <a:moveTo>
                    <a:pt x="0" y="0"/>
                  </a:moveTo>
                  <a:lnTo>
                    <a:pt x="2161467" y="0"/>
                  </a:lnTo>
                  <a:lnTo>
                    <a:pt x="2161467" y="444811"/>
                  </a:lnTo>
                  <a:lnTo>
                    <a:pt x="0" y="444811"/>
                  </a:lnTo>
                  <a:close/>
                </a:path>
              </a:pathLst>
            </a:custGeom>
            <a:solidFill>
              <a:srgbClr val="000000">
                <a:alpha val="0"/>
              </a:srgbClr>
            </a:solidFill>
          </p:spPr>
        </p:sp>
        <p:sp>
          <p:nvSpPr>
            <p:cNvPr id="10" name="TextBox 10"/>
            <p:cNvSpPr txBox="1"/>
            <p:nvPr/>
          </p:nvSpPr>
          <p:spPr>
            <a:xfrm>
              <a:off x="0" y="-57150"/>
              <a:ext cx="2161467" cy="501961"/>
            </a:xfrm>
            <a:prstGeom prst="rect">
              <a:avLst/>
            </a:prstGeom>
          </p:spPr>
          <p:txBody>
            <a:bodyPr lIns="0" tIns="0" rIns="0" bIns="0" rtlCol="0" anchor="t"/>
            <a:lstStyle/>
            <a:p>
              <a:pPr algn="l">
                <a:lnSpc>
                  <a:spcPts val="2611"/>
                </a:lnSpc>
              </a:pPr>
              <a:r>
                <a:rPr lang="en-US" sz="1864" b="1">
                  <a:solidFill>
                    <a:srgbClr val="F4E9EC"/>
                  </a:solidFill>
                  <a:latin typeface="Poppins Bold"/>
                  <a:ea typeface="Poppins Bold"/>
                  <a:cs typeface="Poppins Bold"/>
                  <a:sym typeface="Poppins Bold"/>
                </a:rPr>
                <a:t>Page 08</a:t>
              </a:r>
            </a:p>
          </p:txBody>
        </p:sp>
      </p:grpSp>
      <p:grpSp>
        <p:nvGrpSpPr>
          <p:cNvPr id="11" name="Group 11"/>
          <p:cNvGrpSpPr/>
          <p:nvPr/>
        </p:nvGrpSpPr>
        <p:grpSpPr>
          <a:xfrm>
            <a:off x="5644036" y="1018927"/>
            <a:ext cx="8857072" cy="1042951"/>
            <a:chOff x="0" y="0"/>
            <a:chExt cx="11809429" cy="1390601"/>
          </a:xfrm>
        </p:grpSpPr>
        <p:sp>
          <p:nvSpPr>
            <p:cNvPr id="12" name="Freeform 12"/>
            <p:cNvSpPr/>
            <p:nvPr/>
          </p:nvSpPr>
          <p:spPr>
            <a:xfrm>
              <a:off x="0" y="0"/>
              <a:ext cx="11809430" cy="1390601"/>
            </a:xfrm>
            <a:custGeom>
              <a:avLst/>
              <a:gdLst/>
              <a:ahLst/>
              <a:cxnLst/>
              <a:rect l="l" t="t" r="r" b="b"/>
              <a:pathLst>
                <a:path w="11809430" h="1390601">
                  <a:moveTo>
                    <a:pt x="0" y="0"/>
                  </a:moveTo>
                  <a:lnTo>
                    <a:pt x="11809430" y="0"/>
                  </a:lnTo>
                  <a:lnTo>
                    <a:pt x="11809430" y="1390601"/>
                  </a:lnTo>
                  <a:lnTo>
                    <a:pt x="0" y="1390601"/>
                  </a:lnTo>
                  <a:close/>
                </a:path>
              </a:pathLst>
            </a:custGeom>
            <a:solidFill>
              <a:srgbClr val="000000">
                <a:alpha val="0"/>
              </a:srgbClr>
            </a:solidFill>
          </p:spPr>
        </p:sp>
        <p:sp>
          <p:nvSpPr>
            <p:cNvPr id="13" name="TextBox 13"/>
            <p:cNvSpPr txBox="1"/>
            <p:nvPr/>
          </p:nvSpPr>
          <p:spPr>
            <a:xfrm>
              <a:off x="0" y="-219075"/>
              <a:ext cx="11809429" cy="1609676"/>
            </a:xfrm>
            <a:prstGeom prst="rect">
              <a:avLst/>
            </a:prstGeom>
          </p:spPr>
          <p:txBody>
            <a:bodyPr lIns="0" tIns="0" rIns="0" bIns="0" rtlCol="0" anchor="t"/>
            <a:lstStyle/>
            <a:p>
              <a:pPr algn="ctr">
                <a:lnSpc>
                  <a:spcPts val="7614"/>
                </a:lnSpc>
              </a:pPr>
              <a:r>
                <a:rPr lang="en-US" sz="5438" b="1">
                  <a:solidFill>
                    <a:srgbClr val="000000"/>
                  </a:solidFill>
                  <a:latin typeface="Times New Roman Bold"/>
                  <a:ea typeface="Times New Roman Bold"/>
                  <a:cs typeface="Times New Roman Bold"/>
                  <a:sym typeface="Times New Roman Bold"/>
                </a:rPr>
                <a:t>DEMO (IF APPLICABLE)</a:t>
              </a:r>
            </a:p>
          </p:txBody>
        </p:sp>
      </p:grpSp>
      <p:grpSp>
        <p:nvGrpSpPr>
          <p:cNvPr id="14" name="Group 14"/>
          <p:cNvGrpSpPr/>
          <p:nvPr/>
        </p:nvGrpSpPr>
        <p:grpSpPr>
          <a:xfrm>
            <a:off x="3950476" y="9794298"/>
            <a:ext cx="10387047" cy="333608"/>
            <a:chOff x="0" y="0"/>
            <a:chExt cx="13849396" cy="444811"/>
          </a:xfrm>
        </p:grpSpPr>
        <p:sp>
          <p:nvSpPr>
            <p:cNvPr id="15" name="Freeform 15"/>
            <p:cNvSpPr/>
            <p:nvPr/>
          </p:nvSpPr>
          <p:spPr>
            <a:xfrm>
              <a:off x="0" y="0"/>
              <a:ext cx="13849397" cy="444811"/>
            </a:xfrm>
            <a:custGeom>
              <a:avLst/>
              <a:gdLst/>
              <a:ahLst/>
              <a:cxnLst/>
              <a:rect l="l" t="t" r="r" b="b"/>
              <a:pathLst>
                <a:path w="13849397" h="444811">
                  <a:moveTo>
                    <a:pt x="0" y="0"/>
                  </a:moveTo>
                  <a:lnTo>
                    <a:pt x="13849397" y="0"/>
                  </a:lnTo>
                  <a:lnTo>
                    <a:pt x="13849397" y="444811"/>
                  </a:lnTo>
                  <a:lnTo>
                    <a:pt x="0" y="444811"/>
                  </a:lnTo>
                  <a:close/>
                </a:path>
              </a:pathLst>
            </a:custGeom>
            <a:solidFill>
              <a:srgbClr val="000000">
                <a:alpha val="0"/>
              </a:srgbClr>
            </a:solidFill>
          </p:spPr>
        </p:sp>
        <p:sp>
          <p:nvSpPr>
            <p:cNvPr id="16" name="TextBox 16"/>
            <p:cNvSpPr txBox="1"/>
            <p:nvPr/>
          </p:nvSpPr>
          <p:spPr>
            <a:xfrm>
              <a:off x="0" y="-57150"/>
              <a:ext cx="13849396" cy="501961"/>
            </a:xfrm>
            <a:prstGeom prst="rect">
              <a:avLst/>
            </a:prstGeom>
          </p:spPr>
          <p:txBody>
            <a:bodyPr lIns="0" tIns="0" rIns="0" bIns="0" rtlCol="0" anchor="t"/>
            <a:lstStyle/>
            <a:p>
              <a:pPr algn="ctr">
                <a:lnSpc>
                  <a:spcPts val="2611"/>
                </a:lnSpc>
              </a:pPr>
              <a:r>
                <a:rPr lang="en-US" sz="1864" b="1">
                  <a:solidFill>
                    <a:srgbClr val="F4E9EC"/>
                  </a:solidFill>
                  <a:latin typeface="Poppins Bold"/>
                  <a:ea typeface="Poppins Bold"/>
                  <a:cs typeface="Poppins Bold"/>
                  <a:sym typeface="Poppins Bold"/>
                </a:rPr>
                <a:t>Sri Indu College of Engg &amp; Tech - Cyber Club, Department of Cyber Security</a:t>
              </a:r>
            </a:p>
          </p:txBody>
        </p:sp>
      </p:grpSp>
      <p:grpSp>
        <p:nvGrpSpPr>
          <p:cNvPr id="17" name="Group 17"/>
          <p:cNvGrpSpPr/>
          <p:nvPr/>
        </p:nvGrpSpPr>
        <p:grpSpPr>
          <a:xfrm>
            <a:off x="1028700" y="4465704"/>
            <a:ext cx="16448750" cy="1627214"/>
            <a:chOff x="0" y="0"/>
            <a:chExt cx="21931667" cy="2169619"/>
          </a:xfrm>
        </p:grpSpPr>
        <p:sp>
          <p:nvSpPr>
            <p:cNvPr id="18" name="Freeform 18"/>
            <p:cNvSpPr/>
            <p:nvPr/>
          </p:nvSpPr>
          <p:spPr>
            <a:xfrm>
              <a:off x="0" y="0"/>
              <a:ext cx="21931666" cy="2169619"/>
            </a:xfrm>
            <a:custGeom>
              <a:avLst/>
              <a:gdLst/>
              <a:ahLst/>
              <a:cxnLst/>
              <a:rect l="l" t="t" r="r" b="b"/>
              <a:pathLst>
                <a:path w="21931666" h="2169619">
                  <a:moveTo>
                    <a:pt x="0" y="0"/>
                  </a:moveTo>
                  <a:lnTo>
                    <a:pt x="21931666" y="0"/>
                  </a:lnTo>
                  <a:lnTo>
                    <a:pt x="21931666" y="2169619"/>
                  </a:lnTo>
                  <a:lnTo>
                    <a:pt x="0" y="2169619"/>
                  </a:lnTo>
                  <a:close/>
                </a:path>
              </a:pathLst>
            </a:custGeom>
            <a:solidFill>
              <a:srgbClr val="000000">
                <a:alpha val="0"/>
              </a:srgbClr>
            </a:solidFill>
          </p:spPr>
        </p:sp>
        <p:sp>
          <p:nvSpPr>
            <p:cNvPr id="19" name="TextBox 19"/>
            <p:cNvSpPr txBox="1"/>
            <p:nvPr/>
          </p:nvSpPr>
          <p:spPr>
            <a:xfrm>
              <a:off x="0" y="-247650"/>
              <a:ext cx="21931667" cy="2417269"/>
            </a:xfrm>
            <a:prstGeom prst="rect">
              <a:avLst/>
            </a:prstGeom>
          </p:spPr>
          <p:txBody>
            <a:bodyPr lIns="0" tIns="0" rIns="0" bIns="0" rtlCol="0" anchor="t"/>
            <a:lstStyle/>
            <a:p>
              <a:pPr algn="l">
                <a:lnSpc>
                  <a:spcPts val="6300"/>
                </a:lnSpc>
              </a:pPr>
              <a:r>
                <a:rPr lang="en-US" sz="3865">
                  <a:solidFill>
                    <a:srgbClr val="000000"/>
                  </a:solidFill>
                  <a:latin typeface="Times New Roman"/>
                  <a:ea typeface="Times New Roman"/>
                  <a:cs typeface="Times New Roman"/>
                  <a:sym typeface="Times New Roman"/>
                </a:rPr>
                <a:t>Insert demo screenshots, video links (if hosted on Drive/GitHub), or explain how it works.</a:t>
              </a:r>
            </a:p>
          </p:txBody>
        </p:sp>
      </p:grpSp>
      <p:sp>
        <p:nvSpPr>
          <p:cNvPr id="20" name="Freeform 20"/>
          <p:cNvSpPr/>
          <p:nvPr/>
        </p:nvSpPr>
        <p:spPr>
          <a:xfrm>
            <a:off x="578499" y="674602"/>
            <a:ext cx="2393301" cy="1383480"/>
          </a:xfrm>
          <a:custGeom>
            <a:avLst/>
            <a:gdLst/>
            <a:ahLst/>
            <a:cxnLst/>
            <a:rect l="l" t="t" r="r" b="b"/>
            <a:pathLst>
              <a:path w="2393301" h="1383480">
                <a:moveTo>
                  <a:pt x="0" y="0"/>
                </a:moveTo>
                <a:lnTo>
                  <a:pt x="2393301" y="0"/>
                </a:lnTo>
                <a:lnTo>
                  <a:pt x="2393301" y="1383480"/>
                </a:lnTo>
                <a:lnTo>
                  <a:pt x="0" y="1383480"/>
                </a:lnTo>
                <a:lnTo>
                  <a:pt x="0" y="0"/>
                </a:lnTo>
                <a:close/>
              </a:path>
            </a:pathLst>
          </a:custGeom>
          <a:blipFill>
            <a:blip r:embed="rId5">
              <a:extLst>
                <a:ext uri="{96DAC541-7B7A-43D3-8B79-37D633B846F1}">
                  <asvg:svgBlip xmlns:asvg="http://schemas.microsoft.com/office/drawing/2016/SVG/main" r:embed="rId6"/>
                </a:ext>
              </a:extLst>
            </a:blip>
            <a:stretch>
              <a:fillRect t="-3888" b="-3888"/>
            </a:stretch>
          </a:blipFill>
        </p:spPr>
      </p:sp>
      <p:grpSp>
        <p:nvGrpSpPr>
          <p:cNvPr id="21" name="Group 21"/>
          <p:cNvGrpSpPr/>
          <p:nvPr/>
        </p:nvGrpSpPr>
        <p:grpSpPr>
          <a:xfrm>
            <a:off x="793672" y="952500"/>
            <a:ext cx="1949527" cy="664028"/>
            <a:chOff x="0" y="0"/>
            <a:chExt cx="2599369" cy="885371"/>
          </a:xfrm>
        </p:grpSpPr>
        <p:sp>
          <p:nvSpPr>
            <p:cNvPr id="22" name="Freeform 22"/>
            <p:cNvSpPr/>
            <p:nvPr/>
          </p:nvSpPr>
          <p:spPr>
            <a:xfrm>
              <a:off x="0" y="0"/>
              <a:ext cx="2599369" cy="885371"/>
            </a:xfrm>
            <a:custGeom>
              <a:avLst/>
              <a:gdLst/>
              <a:ahLst/>
              <a:cxnLst/>
              <a:rect l="l" t="t" r="r" b="b"/>
              <a:pathLst>
                <a:path w="2599369" h="885371">
                  <a:moveTo>
                    <a:pt x="0" y="0"/>
                  </a:moveTo>
                  <a:lnTo>
                    <a:pt x="2599369" y="0"/>
                  </a:lnTo>
                  <a:lnTo>
                    <a:pt x="2599369" y="885371"/>
                  </a:lnTo>
                  <a:lnTo>
                    <a:pt x="0" y="885371"/>
                  </a:lnTo>
                  <a:close/>
                </a:path>
              </a:pathLst>
            </a:custGeom>
            <a:solidFill>
              <a:srgbClr val="000000">
                <a:alpha val="0"/>
              </a:srgbClr>
            </a:solidFill>
          </p:spPr>
        </p:sp>
        <p:sp>
          <p:nvSpPr>
            <p:cNvPr id="23" name="TextBox 23"/>
            <p:cNvSpPr txBox="1"/>
            <p:nvPr/>
          </p:nvSpPr>
          <p:spPr>
            <a:xfrm>
              <a:off x="0" y="-85725"/>
              <a:ext cx="2599369" cy="971096"/>
            </a:xfrm>
            <a:prstGeom prst="rect">
              <a:avLst/>
            </a:prstGeom>
          </p:spPr>
          <p:txBody>
            <a:bodyPr lIns="0" tIns="0" rIns="0" bIns="0" rtlCol="0" anchor="t"/>
            <a:lstStyle/>
            <a:p>
              <a:pPr algn="ctr">
                <a:lnSpc>
                  <a:spcPts val="2706"/>
                </a:lnSpc>
              </a:pPr>
              <a:r>
                <a:rPr lang="en-US" sz="1932" b="1">
                  <a:solidFill>
                    <a:srgbClr val="000000"/>
                  </a:solidFill>
                  <a:latin typeface="Times New Roman Bold"/>
                  <a:ea typeface="Times New Roman Bold"/>
                  <a:cs typeface="Times New Roman Bold"/>
                  <a:sym typeface="Times New Roman Bold"/>
                </a:rPr>
                <a:t>TEAM </a:t>
              </a:r>
            </a:p>
            <a:p>
              <a:pPr algn="ctr">
                <a:lnSpc>
                  <a:spcPts val="2706"/>
                </a:lnSpc>
              </a:pPr>
              <a:r>
                <a:rPr lang="en-US" sz="1932" b="1">
                  <a:solidFill>
                    <a:srgbClr val="000000"/>
                  </a:solidFill>
                  <a:latin typeface="Times New Roman Bold"/>
                  <a:ea typeface="Times New Roman Bold"/>
                  <a:cs typeface="Times New Roman Bold"/>
                  <a:sym typeface="Times New Roman Bold"/>
                </a:rPr>
                <a:t>SHOURYANGAS</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38888" b="-38888"/>
              </a:stretch>
            </a:blipFill>
          </p:spPr>
        </p:sp>
      </p:grpSp>
      <p:grpSp>
        <p:nvGrpSpPr>
          <p:cNvPr id="4" name="Group 4"/>
          <p:cNvGrpSpPr/>
          <p:nvPr/>
        </p:nvGrpSpPr>
        <p:grpSpPr>
          <a:xfrm>
            <a:off x="15910982" y="463512"/>
            <a:ext cx="2113659" cy="1009272"/>
            <a:chOff x="0" y="0"/>
            <a:chExt cx="2818212" cy="1345696"/>
          </a:xfrm>
        </p:grpSpPr>
        <p:sp>
          <p:nvSpPr>
            <p:cNvPr id="5" name="Freeform 5"/>
            <p:cNvSpPr/>
            <p:nvPr/>
          </p:nvSpPr>
          <p:spPr>
            <a:xfrm>
              <a:off x="0" y="0"/>
              <a:ext cx="2818257" cy="1345692"/>
            </a:xfrm>
            <a:custGeom>
              <a:avLst/>
              <a:gdLst/>
              <a:ahLst/>
              <a:cxnLst/>
              <a:rect l="l" t="t" r="r" b="b"/>
              <a:pathLst>
                <a:path w="2818257" h="1345692">
                  <a:moveTo>
                    <a:pt x="0" y="0"/>
                  </a:moveTo>
                  <a:lnTo>
                    <a:pt x="2818257" y="0"/>
                  </a:lnTo>
                  <a:lnTo>
                    <a:pt x="2818257" y="1345692"/>
                  </a:lnTo>
                  <a:lnTo>
                    <a:pt x="0" y="1345692"/>
                  </a:lnTo>
                  <a:lnTo>
                    <a:pt x="0" y="0"/>
                  </a:lnTo>
                  <a:close/>
                </a:path>
              </a:pathLst>
            </a:custGeom>
            <a:blipFill>
              <a:blip r:embed="rId3"/>
              <a:stretch>
                <a:fillRect t="-112" r="1" b="-112"/>
              </a:stretch>
            </a:blipFill>
          </p:spPr>
        </p:sp>
      </p:grpSp>
      <p:grpSp>
        <p:nvGrpSpPr>
          <p:cNvPr id="6" name="Group 6"/>
          <p:cNvGrpSpPr/>
          <p:nvPr/>
        </p:nvGrpSpPr>
        <p:grpSpPr>
          <a:xfrm>
            <a:off x="45723" y="9692353"/>
            <a:ext cx="18242277" cy="594647"/>
            <a:chOff x="0" y="0"/>
            <a:chExt cx="24323036" cy="792863"/>
          </a:xfrm>
        </p:grpSpPr>
        <p:sp>
          <p:nvSpPr>
            <p:cNvPr id="7" name="Freeform 7"/>
            <p:cNvSpPr/>
            <p:nvPr/>
          </p:nvSpPr>
          <p:spPr>
            <a:xfrm>
              <a:off x="0" y="0"/>
              <a:ext cx="24323039" cy="792861"/>
            </a:xfrm>
            <a:custGeom>
              <a:avLst/>
              <a:gdLst/>
              <a:ahLst/>
              <a:cxnLst/>
              <a:rect l="l" t="t" r="r" b="b"/>
              <a:pathLst>
                <a:path w="24323039" h="792861">
                  <a:moveTo>
                    <a:pt x="0" y="0"/>
                  </a:moveTo>
                  <a:lnTo>
                    <a:pt x="24323039" y="0"/>
                  </a:lnTo>
                  <a:lnTo>
                    <a:pt x="24323039" y="792861"/>
                  </a:lnTo>
                  <a:lnTo>
                    <a:pt x="0" y="792861"/>
                  </a:lnTo>
                  <a:lnTo>
                    <a:pt x="0" y="0"/>
                  </a:lnTo>
                  <a:close/>
                </a:path>
              </a:pathLst>
            </a:custGeom>
            <a:blipFill>
              <a:blip r:embed="rId4"/>
              <a:stretch>
                <a:fillRect t="-16723" b="-16723"/>
              </a:stretch>
            </a:blipFill>
          </p:spPr>
        </p:sp>
      </p:grpSp>
      <p:grpSp>
        <p:nvGrpSpPr>
          <p:cNvPr id="8" name="Group 8"/>
          <p:cNvGrpSpPr/>
          <p:nvPr/>
        </p:nvGrpSpPr>
        <p:grpSpPr>
          <a:xfrm>
            <a:off x="16666900" y="9794298"/>
            <a:ext cx="1621100" cy="333608"/>
            <a:chOff x="0" y="0"/>
            <a:chExt cx="2161467" cy="444811"/>
          </a:xfrm>
        </p:grpSpPr>
        <p:sp>
          <p:nvSpPr>
            <p:cNvPr id="9" name="Freeform 9"/>
            <p:cNvSpPr/>
            <p:nvPr/>
          </p:nvSpPr>
          <p:spPr>
            <a:xfrm>
              <a:off x="0" y="0"/>
              <a:ext cx="2161467" cy="444811"/>
            </a:xfrm>
            <a:custGeom>
              <a:avLst/>
              <a:gdLst/>
              <a:ahLst/>
              <a:cxnLst/>
              <a:rect l="l" t="t" r="r" b="b"/>
              <a:pathLst>
                <a:path w="2161467" h="444811">
                  <a:moveTo>
                    <a:pt x="0" y="0"/>
                  </a:moveTo>
                  <a:lnTo>
                    <a:pt x="2161467" y="0"/>
                  </a:lnTo>
                  <a:lnTo>
                    <a:pt x="2161467" y="444811"/>
                  </a:lnTo>
                  <a:lnTo>
                    <a:pt x="0" y="444811"/>
                  </a:lnTo>
                  <a:close/>
                </a:path>
              </a:pathLst>
            </a:custGeom>
            <a:solidFill>
              <a:srgbClr val="000000">
                <a:alpha val="0"/>
              </a:srgbClr>
            </a:solidFill>
          </p:spPr>
        </p:sp>
        <p:sp>
          <p:nvSpPr>
            <p:cNvPr id="10" name="TextBox 10"/>
            <p:cNvSpPr txBox="1"/>
            <p:nvPr/>
          </p:nvSpPr>
          <p:spPr>
            <a:xfrm>
              <a:off x="0" y="-57150"/>
              <a:ext cx="2161467" cy="501961"/>
            </a:xfrm>
            <a:prstGeom prst="rect">
              <a:avLst/>
            </a:prstGeom>
          </p:spPr>
          <p:txBody>
            <a:bodyPr lIns="0" tIns="0" rIns="0" bIns="0" rtlCol="0" anchor="t"/>
            <a:lstStyle/>
            <a:p>
              <a:pPr algn="l">
                <a:lnSpc>
                  <a:spcPts val="2611"/>
                </a:lnSpc>
              </a:pPr>
              <a:r>
                <a:rPr lang="en-US" sz="1864" b="1">
                  <a:solidFill>
                    <a:srgbClr val="F4E9EC"/>
                  </a:solidFill>
                  <a:latin typeface="Poppins Bold"/>
                  <a:ea typeface="Poppins Bold"/>
                  <a:cs typeface="Poppins Bold"/>
                  <a:sym typeface="Poppins Bold"/>
                </a:rPr>
                <a:t>Page 09</a:t>
              </a:r>
            </a:p>
          </p:txBody>
        </p:sp>
      </p:grpSp>
      <p:grpSp>
        <p:nvGrpSpPr>
          <p:cNvPr id="11" name="Group 11"/>
          <p:cNvGrpSpPr/>
          <p:nvPr/>
        </p:nvGrpSpPr>
        <p:grpSpPr>
          <a:xfrm>
            <a:off x="4119602" y="841771"/>
            <a:ext cx="10266947" cy="1042951"/>
            <a:chOff x="0" y="0"/>
            <a:chExt cx="13689263" cy="1390601"/>
          </a:xfrm>
        </p:grpSpPr>
        <p:sp>
          <p:nvSpPr>
            <p:cNvPr id="12" name="Freeform 12"/>
            <p:cNvSpPr/>
            <p:nvPr/>
          </p:nvSpPr>
          <p:spPr>
            <a:xfrm>
              <a:off x="0" y="0"/>
              <a:ext cx="13689262" cy="1390601"/>
            </a:xfrm>
            <a:custGeom>
              <a:avLst/>
              <a:gdLst/>
              <a:ahLst/>
              <a:cxnLst/>
              <a:rect l="l" t="t" r="r" b="b"/>
              <a:pathLst>
                <a:path w="13689262" h="1390601">
                  <a:moveTo>
                    <a:pt x="0" y="0"/>
                  </a:moveTo>
                  <a:lnTo>
                    <a:pt x="13689262" y="0"/>
                  </a:lnTo>
                  <a:lnTo>
                    <a:pt x="13689262" y="1390601"/>
                  </a:lnTo>
                  <a:lnTo>
                    <a:pt x="0" y="1390601"/>
                  </a:lnTo>
                  <a:close/>
                </a:path>
              </a:pathLst>
            </a:custGeom>
            <a:solidFill>
              <a:srgbClr val="000000">
                <a:alpha val="0"/>
              </a:srgbClr>
            </a:solidFill>
          </p:spPr>
        </p:sp>
        <p:sp>
          <p:nvSpPr>
            <p:cNvPr id="13" name="TextBox 13"/>
            <p:cNvSpPr txBox="1"/>
            <p:nvPr/>
          </p:nvSpPr>
          <p:spPr>
            <a:xfrm>
              <a:off x="0" y="-219075"/>
              <a:ext cx="13689263" cy="1609676"/>
            </a:xfrm>
            <a:prstGeom prst="rect">
              <a:avLst/>
            </a:prstGeom>
          </p:spPr>
          <p:txBody>
            <a:bodyPr lIns="0" tIns="0" rIns="0" bIns="0" rtlCol="0" anchor="t"/>
            <a:lstStyle/>
            <a:p>
              <a:pPr algn="ctr">
                <a:lnSpc>
                  <a:spcPts val="7614"/>
                </a:lnSpc>
              </a:pPr>
              <a:r>
                <a:rPr lang="en-US" sz="5438" b="1">
                  <a:solidFill>
                    <a:srgbClr val="000000"/>
                  </a:solidFill>
                  <a:latin typeface="Times New Roman Bold"/>
                  <a:ea typeface="Times New Roman Bold"/>
                  <a:cs typeface="Times New Roman Bold"/>
                  <a:sym typeface="Times New Roman Bold"/>
                </a:rPr>
                <a:t>CONCLUSION &amp; THANK YOU</a:t>
              </a:r>
            </a:p>
          </p:txBody>
        </p:sp>
      </p:grpSp>
      <p:grpSp>
        <p:nvGrpSpPr>
          <p:cNvPr id="14" name="Group 14"/>
          <p:cNvGrpSpPr/>
          <p:nvPr/>
        </p:nvGrpSpPr>
        <p:grpSpPr>
          <a:xfrm>
            <a:off x="3895355" y="9794298"/>
            <a:ext cx="10491193" cy="333608"/>
            <a:chOff x="0" y="0"/>
            <a:chExt cx="13988257" cy="444811"/>
          </a:xfrm>
        </p:grpSpPr>
        <p:sp>
          <p:nvSpPr>
            <p:cNvPr id="15" name="Freeform 15"/>
            <p:cNvSpPr/>
            <p:nvPr/>
          </p:nvSpPr>
          <p:spPr>
            <a:xfrm>
              <a:off x="0" y="0"/>
              <a:ext cx="13988258" cy="444811"/>
            </a:xfrm>
            <a:custGeom>
              <a:avLst/>
              <a:gdLst/>
              <a:ahLst/>
              <a:cxnLst/>
              <a:rect l="l" t="t" r="r" b="b"/>
              <a:pathLst>
                <a:path w="13988258" h="444811">
                  <a:moveTo>
                    <a:pt x="0" y="0"/>
                  </a:moveTo>
                  <a:lnTo>
                    <a:pt x="13988258" y="0"/>
                  </a:lnTo>
                  <a:lnTo>
                    <a:pt x="13988258" y="444811"/>
                  </a:lnTo>
                  <a:lnTo>
                    <a:pt x="0" y="444811"/>
                  </a:lnTo>
                  <a:close/>
                </a:path>
              </a:pathLst>
            </a:custGeom>
            <a:solidFill>
              <a:srgbClr val="000000">
                <a:alpha val="0"/>
              </a:srgbClr>
            </a:solidFill>
          </p:spPr>
        </p:sp>
        <p:sp>
          <p:nvSpPr>
            <p:cNvPr id="16" name="TextBox 16"/>
            <p:cNvSpPr txBox="1"/>
            <p:nvPr/>
          </p:nvSpPr>
          <p:spPr>
            <a:xfrm>
              <a:off x="0" y="-57150"/>
              <a:ext cx="13988257" cy="501961"/>
            </a:xfrm>
            <a:prstGeom prst="rect">
              <a:avLst/>
            </a:prstGeom>
          </p:spPr>
          <p:txBody>
            <a:bodyPr lIns="0" tIns="0" rIns="0" bIns="0" rtlCol="0" anchor="t"/>
            <a:lstStyle/>
            <a:p>
              <a:pPr algn="ctr">
                <a:lnSpc>
                  <a:spcPts val="2611"/>
                </a:lnSpc>
              </a:pPr>
              <a:r>
                <a:rPr lang="en-US" sz="1864" b="1">
                  <a:solidFill>
                    <a:srgbClr val="F4E9EC"/>
                  </a:solidFill>
                  <a:latin typeface="Poppins Bold"/>
                  <a:ea typeface="Poppins Bold"/>
                  <a:cs typeface="Poppins Bold"/>
                  <a:sym typeface="Poppins Bold"/>
                </a:rPr>
                <a:t>Sri Indu College of Engg &amp; Tech - Cyber Club, Department of Cyber Security</a:t>
              </a:r>
            </a:p>
          </p:txBody>
        </p:sp>
      </p:grpSp>
      <p:grpSp>
        <p:nvGrpSpPr>
          <p:cNvPr id="17" name="Group 17"/>
          <p:cNvGrpSpPr/>
          <p:nvPr/>
        </p:nvGrpSpPr>
        <p:grpSpPr>
          <a:xfrm>
            <a:off x="533400" y="3695700"/>
            <a:ext cx="17446141" cy="3953775"/>
            <a:chOff x="0" y="0"/>
            <a:chExt cx="23261521" cy="5271700"/>
          </a:xfrm>
        </p:grpSpPr>
        <p:sp>
          <p:nvSpPr>
            <p:cNvPr id="18" name="Freeform 18"/>
            <p:cNvSpPr/>
            <p:nvPr/>
          </p:nvSpPr>
          <p:spPr>
            <a:xfrm>
              <a:off x="0" y="0"/>
              <a:ext cx="23261521" cy="5271700"/>
            </a:xfrm>
            <a:custGeom>
              <a:avLst/>
              <a:gdLst/>
              <a:ahLst/>
              <a:cxnLst/>
              <a:rect l="l" t="t" r="r" b="b"/>
              <a:pathLst>
                <a:path w="23261521" h="5271700">
                  <a:moveTo>
                    <a:pt x="0" y="0"/>
                  </a:moveTo>
                  <a:lnTo>
                    <a:pt x="23261521" y="0"/>
                  </a:lnTo>
                  <a:lnTo>
                    <a:pt x="23261521" y="5271700"/>
                  </a:lnTo>
                  <a:lnTo>
                    <a:pt x="0" y="5271700"/>
                  </a:lnTo>
                  <a:close/>
                </a:path>
              </a:pathLst>
            </a:custGeom>
            <a:solidFill>
              <a:srgbClr val="000000">
                <a:alpha val="0"/>
              </a:srgbClr>
            </a:solidFill>
          </p:spPr>
        </p:sp>
        <p:sp>
          <p:nvSpPr>
            <p:cNvPr id="19" name="TextBox 19"/>
            <p:cNvSpPr txBox="1"/>
            <p:nvPr/>
          </p:nvSpPr>
          <p:spPr>
            <a:xfrm>
              <a:off x="0" y="-238125"/>
              <a:ext cx="23261521" cy="5509825"/>
            </a:xfrm>
            <a:prstGeom prst="rect">
              <a:avLst/>
            </a:prstGeom>
          </p:spPr>
          <p:txBody>
            <a:bodyPr lIns="0" tIns="0" rIns="0" bIns="0" rtlCol="0" anchor="t"/>
            <a:lstStyle/>
            <a:p>
              <a:pPr marL="887847" lvl="2" indent="-295949" algn="l">
                <a:lnSpc>
                  <a:spcPts val="6301"/>
                </a:lnSpc>
                <a:buFont typeface="Arial"/>
                <a:buChar char="⚬"/>
              </a:pPr>
              <a:r>
                <a:rPr lang="en-US" sz="3900">
                  <a:solidFill>
                    <a:srgbClr val="000000"/>
                  </a:solidFill>
                  <a:latin typeface="Times New Roman"/>
                  <a:ea typeface="Times New Roman"/>
                  <a:cs typeface="Times New Roman"/>
                  <a:sym typeface="Times New Roman"/>
                </a:rPr>
                <a:t>Our project, Resume Analyzer, is an AI-powered tool that evaluates resumes using natural language processing and large language models. It matches candidate profiles with job description, provides detailed scoring and offers insights to help recruiters make informed hiring decisions.</a:t>
              </a:r>
            </a:p>
            <a:p>
              <a:pPr marL="887847" lvl="2" indent="-295949" algn="l">
                <a:lnSpc>
                  <a:spcPts val="6301"/>
                </a:lnSpc>
                <a:buFont typeface="Arial"/>
                <a:buChar char="⚬"/>
              </a:pPr>
              <a:r>
                <a:rPr lang="en-US" sz="3900">
                  <a:solidFill>
                    <a:srgbClr val="000000"/>
                  </a:solidFill>
                  <a:latin typeface="Times New Roman"/>
                  <a:ea typeface="Times New Roman"/>
                  <a:cs typeface="Times New Roman"/>
                  <a:sym typeface="Times New Roman"/>
                </a:rPr>
                <a:t>Thank the organizers and mentors</a:t>
              </a:r>
            </a:p>
          </p:txBody>
        </p:sp>
      </p:grpSp>
      <p:sp>
        <p:nvSpPr>
          <p:cNvPr id="20" name="Freeform 20"/>
          <p:cNvSpPr/>
          <p:nvPr/>
        </p:nvSpPr>
        <p:spPr>
          <a:xfrm>
            <a:off x="578499" y="674602"/>
            <a:ext cx="2393301" cy="1383480"/>
          </a:xfrm>
          <a:custGeom>
            <a:avLst/>
            <a:gdLst/>
            <a:ahLst/>
            <a:cxnLst/>
            <a:rect l="l" t="t" r="r" b="b"/>
            <a:pathLst>
              <a:path w="2393301" h="1383480">
                <a:moveTo>
                  <a:pt x="0" y="0"/>
                </a:moveTo>
                <a:lnTo>
                  <a:pt x="2393301" y="0"/>
                </a:lnTo>
                <a:lnTo>
                  <a:pt x="2393301" y="1383480"/>
                </a:lnTo>
                <a:lnTo>
                  <a:pt x="0" y="1383480"/>
                </a:lnTo>
                <a:lnTo>
                  <a:pt x="0" y="0"/>
                </a:lnTo>
                <a:close/>
              </a:path>
            </a:pathLst>
          </a:custGeom>
          <a:blipFill>
            <a:blip r:embed="rId5">
              <a:extLst>
                <a:ext uri="{96DAC541-7B7A-43D3-8B79-37D633B846F1}">
                  <asvg:svgBlip xmlns:asvg="http://schemas.microsoft.com/office/drawing/2016/SVG/main" r:embed="rId6"/>
                </a:ext>
              </a:extLst>
            </a:blip>
            <a:stretch>
              <a:fillRect t="-3888" b="-3888"/>
            </a:stretch>
          </a:blipFill>
        </p:spPr>
      </p:sp>
      <p:grpSp>
        <p:nvGrpSpPr>
          <p:cNvPr id="21" name="Group 21"/>
          <p:cNvGrpSpPr/>
          <p:nvPr/>
        </p:nvGrpSpPr>
        <p:grpSpPr>
          <a:xfrm>
            <a:off x="793672" y="952500"/>
            <a:ext cx="1949527" cy="664028"/>
            <a:chOff x="0" y="0"/>
            <a:chExt cx="2599369" cy="885371"/>
          </a:xfrm>
        </p:grpSpPr>
        <p:sp>
          <p:nvSpPr>
            <p:cNvPr id="22" name="Freeform 22"/>
            <p:cNvSpPr/>
            <p:nvPr/>
          </p:nvSpPr>
          <p:spPr>
            <a:xfrm>
              <a:off x="0" y="0"/>
              <a:ext cx="2599369" cy="885371"/>
            </a:xfrm>
            <a:custGeom>
              <a:avLst/>
              <a:gdLst/>
              <a:ahLst/>
              <a:cxnLst/>
              <a:rect l="l" t="t" r="r" b="b"/>
              <a:pathLst>
                <a:path w="2599369" h="885371">
                  <a:moveTo>
                    <a:pt x="0" y="0"/>
                  </a:moveTo>
                  <a:lnTo>
                    <a:pt x="2599369" y="0"/>
                  </a:lnTo>
                  <a:lnTo>
                    <a:pt x="2599369" y="885371"/>
                  </a:lnTo>
                  <a:lnTo>
                    <a:pt x="0" y="885371"/>
                  </a:lnTo>
                  <a:close/>
                </a:path>
              </a:pathLst>
            </a:custGeom>
            <a:solidFill>
              <a:srgbClr val="000000">
                <a:alpha val="0"/>
              </a:srgbClr>
            </a:solidFill>
          </p:spPr>
        </p:sp>
        <p:sp>
          <p:nvSpPr>
            <p:cNvPr id="23" name="TextBox 23"/>
            <p:cNvSpPr txBox="1"/>
            <p:nvPr/>
          </p:nvSpPr>
          <p:spPr>
            <a:xfrm>
              <a:off x="0" y="-85725"/>
              <a:ext cx="2599369" cy="971096"/>
            </a:xfrm>
            <a:prstGeom prst="rect">
              <a:avLst/>
            </a:prstGeom>
          </p:spPr>
          <p:txBody>
            <a:bodyPr lIns="0" tIns="0" rIns="0" bIns="0" rtlCol="0" anchor="t"/>
            <a:lstStyle/>
            <a:p>
              <a:pPr algn="ctr">
                <a:lnSpc>
                  <a:spcPts val="2706"/>
                </a:lnSpc>
              </a:pPr>
              <a:r>
                <a:rPr lang="en-US" sz="1932" b="1">
                  <a:solidFill>
                    <a:srgbClr val="000000"/>
                  </a:solidFill>
                  <a:latin typeface="Times New Roman Bold"/>
                  <a:ea typeface="Times New Roman Bold"/>
                  <a:cs typeface="Times New Roman Bold"/>
                  <a:sym typeface="Times New Roman Bold"/>
                </a:rPr>
                <a:t>TEAM </a:t>
              </a:r>
            </a:p>
            <a:p>
              <a:pPr algn="ctr">
                <a:lnSpc>
                  <a:spcPts val="2706"/>
                </a:lnSpc>
              </a:pPr>
              <a:r>
                <a:rPr lang="en-US" sz="1932" b="1">
                  <a:solidFill>
                    <a:srgbClr val="000000"/>
                  </a:solidFill>
                  <a:latin typeface="Times New Roman Bold"/>
                  <a:ea typeface="Times New Roman Bold"/>
                  <a:cs typeface="Times New Roman Bold"/>
                  <a:sym typeface="Times New Roman Bold"/>
                </a:rPr>
                <a:t>SHOURYANGAS</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CodeMania_PPT_Template.pptx</dc:title>
  <cp:lastModifiedBy>shivaji suruguru</cp:lastModifiedBy>
  <cp:revision>2</cp:revision>
  <dcterms:created xsi:type="dcterms:W3CDTF">2006-08-16T00:00:00Z</dcterms:created>
  <dcterms:modified xsi:type="dcterms:W3CDTF">2025-04-30T11:29:41Z</dcterms:modified>
  <dc:identifier>DAGmG1ddkqY</dc:identifier>
</cp:coreProperties>
</file>